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394" r:id="rId3"/>
    <p:sldId id="4260" r:id="rId5"/>
    <p:sldId id="4261" r:id="rId6"/>
    <p:sldId id="4269" r:id="rId7"/>
    <p:sldId id="4268" r:id="rId8"/>
    <p:sldId id="4270" r:id="rId9"/>
    <p:sldId id="4259" r:id="rId10"/>
    <p:sldId id="4271" r:id="rId11"/>
    <p:sldId id="4272" r:id="rId12"/>
    <p:sldId id="4278" r:id="rId13"/>
    <p:sldId id="4279" r:id="rId14"/>
    <p:sldId id="4291" r:id="rId15"/>
    <p:sldId id="4286" r:id="rId16"/>
    <p:sldId id="4308" r:id="rId17"/>
    <p:sldId id="4288" r:id="rId18"/>
    <p:sldId id="4294" r:id="rId19"/>
    <p:sldId id="4285" r:id="rId20"/>
    <p:sldId id="4289" r:id="rId21"/>
    <p:sldId id="4295" r:id="rId22"/>
    <p:sldId id="4297" r:id="rId23"/>
    <p:sldId id="4299" r:id="rId24"/>
    <p:sldId id="4300" r:id="rId25"/>
    <p:sldId id="4301" r:id="rId26"/>
    <p:sldId id="4296" r:id="rId27"/>
    <p:sldId id="4305" r:id="rId28"/>
    <p:sldId id="4307" r:id="rId29"/>
    <p:sldId id="4306" r:id="rId30"/>
    <p:sldId id="4302" r:id="rId31"/>
    <p:sldId id="4303" r:id="rId32"/>
    <p:sldId id="4304" r:id="rId33"/>
    <p:sldId id="4298" r:id="rId34"/>
    <p:sldId id="4292" r:id="rId35"/>
    <p:sldId id="4293" r:id="rId36"/>
    <p:sldId id="3772" r:id="rId37"/>
  </p:sldIdLst>
  <p:sldSz cx="12192000" cy="6858000"/>
  <p:notesSz cx="7099300" cy="10234295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8" userDrawn="1">
          <p15:clr>
            <a:srgbClr val="A4A3A4"/>
          </p15:clr>
        </p15:guide>
        <p15:guide id="2" pos="369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赵瑜" initials="S" lastIdx="1" clrIdx="0"/>
  <p:cmAuthor id="2" name="Juan Hu" initials="J" lastIdx="1" clrIdx="1"/>
  <p:cmAuthor id="3" name="d.zhou" initials="d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3BA5A3"/>
    <a:srgbClr val="C30000"/>
    <a:srgbClr val="4F80BD"/>
    <a:srgbClr val="0ABBB5"/>
    <a:srgbClr val="A1591E"/>
    <a:srgbClr val="984708"/>
    <a:srgbClr val="1DA6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4" autoAdjust="0"/>
    <p:restoredTop sz="80268" autoAdjust="0"/>
  </p:normalViewPr>
  <p:slideViewPr>
    <p:cSldViewPr snapToGrid="0" showGuides="1">
      <p:cViewPr varScale="1">
        <p:scale>
          <a:sx n="92" d="100"/>
          <a:sy n="92" d="100"/>
        </p:scale>
        <p:origin x="1200" y="90"/>
      </p:cViewPr>
      <p:guideLst>
        <p:guide orient="horz" pos="1948"/>
        <p:guide pos="369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20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E0E1549-5CF2-45D6-B615-7DA355069E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4561A15-03D9-4E90-ABD5-73E09EACFD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61A15-03D9-4E90-ABD5-73E09EACFDA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30C7-8D9A-40B0-B6DA-5800E3810E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41E5-5B55-4297-9E96-C85F53F9A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4614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519164"/>
            <a:ext cx="10515600" cy="4351338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30C7-8D9A-40B0-B6DA-5800E3810E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41E5-5B55-4297-9E96-C85F53F9A411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838200" y="1259739"/>
            <a:ext cx="10515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30C7-8D9A-40B0-B6DA-5800E3810E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41E5-5B55-4297-9E96-C85F53F9A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A30C7-8D9A-40B0-B6DA-5800E3810E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441E5-5B55-4297-9E96-C85F53F9A4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 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A30C7-8D9A-40B0-B6DA-5800E3810E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441E5-5B55-4297-9E96-C85F53F9A41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n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n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2.png"/><Relationship Id="rId16" Type="http://schemas.openxmlformats.org/officeDocument/2006/relationships/image" Target="../media/image21.pn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Relationship Id="rId3" Type="http://schemas.openxmlformats.org/officeDocument/2006/relationships/image" Target="../media/image18.png"/><Relationship Id="rId2" Type="http://schemas.openxmlformats.org/officeDocument/2006/relationships/tags" Target="../tags/tag6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492553"/>
            <a:ext cx="12192000" cy="4365447"/>
          </a:xfrm>
          <a:prstGeom prst="rect">
            <a:avLst/>
          </a:prstGeom>
          <a:solidFill>
            <a:srgbClr val="3BA5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274445" y="2982595"/>
            <a:ext cx="9144000" cy="8934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sz="4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关于胰岛素泵的</a:t>
            </a:r>
            <a:r>
              <a:rPr lang="zh-CN" altLang="en-US" sz="4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底软相关</a:t>
            </a:r>
            <a:r>
              <a:rPr lang="zh-CN" sz="4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探讨</a:t>
            </a:r>
            <a:endParaRPr lang="zh-CN" sz="42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30125" r="22501" b="28940"/>
          <a:stretch>
            <a:fillRect/>
          </a:stretch>
        </p:blipFill>
        <p:spPr>
          <a:xfrm>
            <a:off x="0" y="0"/>
            <a:ext cx="12192000" cy="24925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707390"/>
            <a:ext cx="11035665" cy="55245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</a:t>
            </a:r>
            <a:r>
              <a:rPr lang="zh-CN" altLang="en-US" sz="2400" b="1" dirty="0" smtClean="0">
                <a:sym typeface="+mn-ea"/>
              </a:rPr>
              <a:t>系统</a:t>
            </a:r>
            <a:r>
              <a:rPr lang="zh-CN" altLang="en-US" sz="2400" b="1" dirty="0" smtClean="0">
                <a:sym typeface="+mn-ea"/>
              </a:rPr>
              <a:t>简介</a:t>
            </a:r>
            <a:endParaRPr lang="zh-CN" altLang="en-US" sz="24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480" y="1689100"/>
            <a:ext cx="5348605" cy="26028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430" y="1529080"/>
            <a:ext cx="54546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   </a:t>
            </a:r>
            <a:r>
              <a:rPr lang="zh-CN" altLang="en-US" sz="2400" b="1" dirty="0" smtClean="0">
                <a:sym typeface="+mn-ea"/>
              </a:rPr>
              <a:t>功能列表（结合用户</a:t>
            </a:r>
            <a:r>
              <a:rPr lang="zh-CN" altLang="en-US" sz="2400" b="1" dirty="0" smtClean="0">
                <a:sym typeface="+mn-ea"/>
              </a:rPr>
              <a:t>界面）</a:t>
            </a:r>
            <a:endParaRPr lang="zh-CN" altLang="en-US" sz="2400" b="1" dirty="0" smtClean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344295"/>
            <a:ext cx="5146040" cy="4765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835" y="1762760"/>
            <a:ext cx="5434330" cy="1219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77240" y="63747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</a:t>
            </a:r>
            <a:r>
              <a:rPr lang="zh-CN" altLang="en-US"/>
              <a:t>竞品。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6090" cy="894715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功能列表（结合用户界面）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1348105"/>
          <a:ext cx="10515600" cy="3781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6430"/>
                <a:gridCol w="6059170"/>
              </a:tblGrid>
              <a:tr h="35433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竞品功能列表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（自动模式与手动模式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对比）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自动模式（Automated Mode）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手动模式</a:t>
                      </a: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sym typeface="+mn-ea"/>
                        </a:rPr>
                        <a:t>Manual Mode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SmartAdjust™ 每 5 分钟自动调节基础率</a:t>
                      </a:r>
                      <a:endParaRPr lang="zh-CN" altLang="en-US" sz="18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基础率完全按预设方案固定输注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CGM 血糖值驱动胰岛素决策</a:t>
                      </a:r>
                      <a:endParaRPr lang="en-US" sz="18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不依赖 CGM 自动调节（可选显示）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预测未来 60 分钟血糖趋势</a:t>
                      </a:r>
                      <a:endParaRPr lang="en-US" altLang="zh-CN" sz="18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用户主动管理所有胰岛素变化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可设置自定义血糖目标 (110–150)</a:t>
                      </a:r>
                      <a:endParaRPr lang="en-US" altLang="en-US" sz="1800" b="0" dirty="0" smtClean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支持临时基础率（Temp Basal）</a:t>
                      </a:r>
                      <a:endParaRPr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活动模式临时调高目标值</a:t>
                      </a:r>
                      <a:endParaRPr lang="en-US" altLang="zh-CN" sz="18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支持延长大剂量（Extended Bolus）</a:t>
                      </a:r>
                      <a:endParaRPr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不支持临时基础率设置</a:t>
                      </a:r>
                      <a:endParaRPr lang="en-US" altLang="zh-CN" sz="1800" b="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支持胰岛素暂停（Suspend）</a:t>
                      </a:r>
                      <a:endParaRPr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不支持延长大剂量</a:t>
                      </a:r>
                      <a:endParaRPr lang="en-US" sz="18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支持临时基础率预设（Presets）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800" b="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适合希望减少手动干预的用户</a:t>
                      </a:r>
                      <a:endParaRPr lang="en-US" sz="18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适合传统泵用户或特殊场景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12825" y="5365750"/>
            <a:ext cx="10116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dirty="0">
                <a:solidFill>
                  <a:srgbClr val="2D3E50"/>
                </a:solidFill>
                <a:sym typeface="+mn-ea"/>
              </a:rPr>
              <a:t>两种模式可随时切换；切换前需先取消正在运行的临时基础率、延长大剂量或胰岛素暂停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   </a:t>
            </a:r>
            <a:r>
              <a:rPr lang="zh-CN" altLang="en-US" sz="2400" b="1" dirty="0" smtClean="0">
                <a:sym typeface="+mn-ea"/>
              </a:rPr>
              <a:t>功能列表（结合用户</a:t>
            </a:r>
            <a:r>
              <a:rPr lang="zh-CN" altLang="en-US" sz="2400" b="1" dirty="0" smtClean="0">
                <a:sym typeface="+mn-ea"/>
              </a:rPr>
              <a:t>界面）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1348105"/>
          <a:ext cx="10515600" cy="50260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25"/>
                <a:gridCol w="8753475"/>
              </a:tblGrid>
              <a:tr h="35433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竞品功能列表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模块功能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具体描述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rowSpan="5"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基础率方案管理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多套方案支持：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可创建多个命名方案（如"工作日""周末""运动"），每套对应不同时段的基础率值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/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24小时分段设置：每套方案最多支持 24 个时间段，每段单独设定基础率（单位 U/h），最小调整间隔 1 小时。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/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一键切换方案：在应用中随时切换激活方案，满足出差、生病、运动等不同场景的胰岛素需求。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/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方案创建与编辑：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操作路径：菜单 → 基础率 → 查看/编辑方案。可修改现有方案或新建方案，保存后可立即启用。</a:t>
                      </a:r>
                      <a:endParaRPr lang="en-US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基础率验证建议：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建议定期空腹测试（每段隔离2-3小时），确保空腹时血糖在目标范围内保持稳定。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rowSpan="3"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大剂量输注管理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sym typeface="+mn-ea"/>
                        </a:rPr>
                        <a:t>Bolus anagement</a:t>
                      </a:r>
                      <a:endParaRPr lang="en-US" altLang="zh-CN" sz="1600" b="0" dirty="0" smtClean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标准大剂量：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① 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一次性立即输注全部剂量；②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适用于普通混合餐食；③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自动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手动模式均可适用；④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可手动调整系统建议量；⑤</a:t>
                      </a:r>
                      <a:r>
                        <a:rPr lang="en-US" altLang="zh-CN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确认后开始</a:t>
                      </a:r>
                      <a:r>
                        <a:rPr lang="zh-CN" altLang="en-US" sz="1800" dirty="0">
                          <a:solidFill>
                            <a:srgbClr val="1A252F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输注。</a:t>
                      </a:r>
                      <a:endParaRPr lang="zh-CN" altLang="en-US" sz="1800" dirty="0">
                        <a:solidFill>
                          <a:srgbClr val="1A252F"/>
                        </a:solidFill>
                        <a:latin typeface="Calibri" panose="020F050202020403020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延长大剂量：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①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仅手动模式可用；②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剂量分两段输注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---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立即部分：即时输注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--- 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延长部分：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30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分钟至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分钟；③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dirty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适用高脂高蛋白餐食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如：披萨、外卖、自助餐</a:t>
                      </a:r>
                      <a:endParaRPr lang="en-US" altLang="zh-CN" sz="18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SmartBolus</a:t>
                      </a:r>
                      <a:r>
                        <a:rPr lang="zh-CN" altLang="en-US" sz="1600" baseline="300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TM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智能计算器: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整合实时血糖值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CGM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、计算碳水化合物胰岛素量、自动扣除活性胰岛素 IOB、纳入校正因子 (ISF)、5分钟内确认输注、超时需重新输入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868680" y="3505200"/>
            <a:ext cx="1630680" cy="32385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Basal Programmes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   </a:t>
            </a:r>
            <a:r>
              <a:rPr lang="zh-CN" altLang="en-US" sz="2400" b="1" dirty="0" smtClean="0">
                <a:sym typeface="+mn-ea"/>
              </a:rPr>
              <a:t>功能列表（结合用户</a:t>
            </a:r>
            <a:r>
              <a:rPr lang="zh-CN" altLang="en-US" sz="2400" b="1" dirty="0" smtClean="0">
                <a:sym typeface="+mn-ea"/>
              </a:rPr>
              <a:t>界面）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1348105"/>
          <a:ext cx="10515600" cy="2646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25"/>
                <a:gridCol w="8753475"/>
              </a:tblGrid>
              <a:tr h="35433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竞品功能列表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模块功能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具体描述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rowSpan="2"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临时基础率 &amp; 预设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临时基础率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功能：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在不改变基础率方案的前提下，临时性地增加或减少基础胰岛素输注量;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调整范围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可设为当前基础率的 0%（完全暂停）至 200%，以 10% 为步进调整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；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持续时间最长可设置 12 小时，自定义分钟/小时。到期后自动恢复原基础率。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仅限手动模式。</a:t>
                      </a:r>
                      <a:endParaRPr 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临时基础率预设: 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可将常用的临时基础率方案保存为命名预设；下次只需选择预设名称，一键启动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；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避免每次重复输入百分比和时长；可创建多个预设，覆盖不同场景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6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rowSpan="3">
                  <a:txBody>
                    <a:bodyPr/>
                    <a:p>
                      <a:pPr mar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胰岛素暂停 &amp; 安全保护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胰岛素暂停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：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完全停止基础率和大剂量输注，胰岛素输送归零。最长可暂停 2 小时；超过此时长需重新操作。暂停到期后不会自动恢复，需手动点击"开始胰岛素"。长时间暂停可能引起高血糖，需持续血糖监测。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None/>
                      </a:pPr>
                      <a:r>
                        <a:rPr lang="en-US" sz="18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报警 &amp; 安全提醒系统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：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低血糖预警：血糖低于阈值自动推送通知；高血糖提醒：持续高血糖发出警告；电量不足：提前告知需充电或更换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；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Pod/传感器通信中断提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；</a:t>
                      </a:r>
                      <a:endParaRPr lang="en-US" sz="18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1" algn="l"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数据记录 &amp; 追踪：</a:t>
                      </a:r>
                      <a:r>
                        <a:rPr 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主屏幕实时显示 CGM 血糖值与趋势箭头；胰岛素标签页查看基础率详情与大剂量记录；历史数据可通过 Glooko 平台同步至医疗团队；应用内可查看当日胰岛素使用统计。</a:t>
                      </a:r>
                      <a:endParaRPr 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功能列表（结合用户界面）</a:t>
            </a:r>
            <a:endParaRPr lang="en-US" altLang="zh-CN" sz="2400" b="1" dirty="0" smtClean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1259840"/>
          <a:ext cx="10515600" cy="53682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39030"/>
                <a:gridCol w="3647440"/>
                <a:gridCol w="996950"/>
                <a:gridCol w="932180"/>
              </a:tblGrid>
              <a:tr h="247015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竞品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完整功能列表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切换手动模式的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场景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功能可用性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总览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更换 Pod 或 CGM 传感器时</a:t>
                      </a:r>
                      <a:endParaRPr lang="zh-CN" altLang="en-US" sz="16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功能</a:t>
                      </a: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自动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手动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需要编辑基础率程序时</a:t>
                      </a:r>
                      <a:endParaRPr lang="zh-CN" altLang="en-US" sz="16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基础率方案（预设输注）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需要修改系统时间设置时</a:t>
                      </a:r>
                      <a:endParaRPr lang="zh-CN" altLang="en-US" sz="16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SmartAdjust™ 自动调节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C0392B"/>
                          </a:solidFill>
                          <a:sym typeface="+mn-ea"/>
                        </a:rPr>
                        <a:t>❌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需要使用延长大剂量（高脂餐)</a:t>
                      </a:r>
                      <a:endParaRPr lang="zh-CN" altLang="en-US" sz="1600" b="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标准大剂量（Normal Bolus）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需要精确设置临时基础率（运动）</a:t>
                      </a:r>
                      <a:endParaRPr lang="en-US" sz="1600" b="0" dirty="0">
                        <a:solidFill>
                          <a:srgbClr val="1A252F"/>
                        </a:solidFill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SmartBolus™ 计算器 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CGM 数据不可用或不可信时</a:t>
                      </a:r>
                      <a:endParaRPr lang="en-US" sz="1600" b="0" dirty="0">
                        <a:solidFill>
                          <a:srgbClr val="1A252F"/>
                        </a:solidFill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延长大剂量（Extended Bolus）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sym typeface="+mn-ea"/>
                        </a:rPr>
                        <a:t>❌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系统自动要求切换手动模式时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临时基础率（Temp Basal）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sym typeface="+mn-ea"/>
                        </a:rPr>
                        <a:t>❌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医疗操作（MRI/CT）前取下设备</a:t>
                      </a:r>
                      <a:endParaRPr lang="en-US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临时基础率预设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sym typeface="+mn-ea"/>
                        </a:rPr>
                        <a:t>❌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rowSpan="5"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说明：</a:t>
                      </a:r>
                      <a:r>
                        <a:rPr lang="en-US" sz="1600" dirty="0">
                          <a:solidFill>
                            <a:srgbClr val="2D3E50"/>
                          </a:solidFill>
                          <a:sym typeface="+mn-ea"/>
                        </a:rPr>
                        <a:t>手动模式切换可随时进行，但需先取消：临时基础率 / 延长大剂量 / 胰岛素暂停，否则无法切换至自动模式</a:t>
                      </a:r>
                      <a:endParaRPr lang="en-US" sz="1600" dirty="0"/>
                    </a:p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 胰岛素暂停（Suspend）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20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活动模式（Activity Mode）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C0392B"/>
                          </a:solidFill>
                          <a:sym typeface="+mn-ea"/>
                        </a:rPr>
                        <a:t>❌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95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 CGM 数据显示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  </a:t>
                      </a:r>
                      <a:r>
                        <a:rPr lang="zh-CN" altLang="en-US" sz="1400" dirty="0">
                          <a:solidFill>
                            <a:srgbClr val="E67E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可选</a:t>
                      </a:r>
                      <a:endParaRPr lang="zh-CN" altLang="en-US" sz="1400" dirty="0">
                        <a:solidFill>
                          <a:srgbClr val="E67E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数据记录 &amp; Glooko 同步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1A252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1A252F"/>
                          </a:solidFill>
                          <a:sym typeface="+mn-ea"/>
                        </a:rPr>
                        <a:t>报警 &amp; 安全通知</a:t>
                      </a:r>
                      <a:endParaRPr lang="en-US" altLang="zh-CN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1ABC9C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solidFill>
                            <a:srgbClr val="E67E22"/>
                          </a:solidFill>
                          <a:sym typeface="+mn-ea"/>
                        </a:rPr>
                        <a:t>✅</a:t>
                      </a:r>
                      <a:endParaRPr lang="zh-CN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临床使用的</a:t>
            </a:r>
            <a:r>
              <a:rPr lang="zh-CN" altLang="en-US" sz="2400" b="1" dirty="0" smtClean="0">
                <a:sym typeface="+mn-ea"/>
              </a:rPr>
              <a:t>流程</a:t>
            </a:r>
            <a:endParaRPr lang="zh-CN" altLang="en-US" sz="24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产品描述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临床功能和各项</a:t>
            </a:r>
            <a:r>
              <a:rPr lang="zh-CN" altLang="en-US" sz="2400" b="1" dirty="0" smtClean="0">
                <a:sym typeface="+mn-ea"/>
              </a:rPr>
              <a:t>性能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8200" y="1348105"/>
          <a:ext cx="10515600" cy="2646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2125"/>
                <a:gridCol w="8753475"/>
              </a:tblGrid>
              <a:tr h="35433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性能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指标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94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核心功能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性能</a:t>
                      </a:r>
                      <a:r>
                        <a:rPr lang="zh-CN" altLang="en-US" sz="18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指标</a:t>
                      </a:r>
                      <a:endParaRPr lang="zh-CN" altLang="en-US" sz="18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基础率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临时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基础率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大剂量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推注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8460">
                <a:tc>
                  <a:txBody>
                    <a:bodyPr/>
                    <a:p>
                      <a:pPr marL="0" marR="0" lvl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lvl="0"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1600" dirty="0">
                        <a:solidFill>
                          <a:srgbClr val="1A252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83260" y="5720080"/>
            <a:ext cx="6543040" cy="6470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自检程序</a:t>
            </a:r>
            <a:r>
              <a:rPr lang="en-US" altLang="zh-CN"/>
              <a:t> --- </a:t>
            </a:r>
            <a:r>
              <a:rPr lang="zh-CN" altLang="en-US"/>
              <a:t>检查</a:t>
            </a:r>
            <a:r>
              <a:rPr lang="zh-CN" altLang="en-US"/>
              <a:t>项目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关于底软初步</a:t>
            </a:r>
            <a:r>
              <a:rPr lang="zh-CN" altLang="en-US" sz="2400" b="1" dirty="0" smtClean="0">
                <a:sym typeface="+mn-ea"/>
              </a:rPr>
              <a:t>讨论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4710" y="2853690"/>
            <a:ext cx="1043876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PCBA</a:t>
            </a:r>
            <a:r>
              <a:rPr lang="zh-CN" altLang="en-US"/>
              <a:t>安装后，进行烧录程序和检验，</a:t>
            </a:r>
            <a:r>
              <a:rPr lang="en-US" altLang="zh-CN"/>
              <a:t> </a:t>
            </a:r>
            <a:r>
              <a:rPr lang="zh-CN" altLang="en-US"/>
              <a:t>串口</a:t>
            </a:r>
            <a:r>
              <a:rPr lang="zh-CN" altLang="en-US"/>
              <a:t>通讯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54710" y="3202305"/>
            <a:ext cx="10438765" cy="375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</a:t>
            </a:r>
            <a:r>
              <a:rPr lang="zh-CN" altLang="en-US"/>
              <a:t>、整机组装之后，灭菌之前，</a:t>
            </a:r>
            <a:r>
              <a:rPr lang="en-US" altLang="zh-CN"/>
              <a:t> </a:t>
            </a:r>
            <a:r>
              <a:rPr lang="zh-CN" altLang="en-US"/>
              <a:t>通过</a:t>
            </a:r>
            <a:r>
              <a:rPr lang="en-US" altLang="zh-CN"/>
              <a:t>BLE</a:t>
            </a:r>
            <a:r>
              <a:rPr lang="zh-CN" altLang="en-US"/>
              <a:t>进行自检和蓝牙</a:t>
            </a:r>
            <a:r>
              <a:rPr lang="zh-CN" altLang="en-US"/>
              <a:t>号、</a:t>
            </a:r>
            <a:r>
              <a:rPr lang="en-US" altLang="zh-CN"/>
              <a:t>SN</a:t>
            </a:r>
            <a:r>
              <a:rPr lang="zh-CN" altLang="en-US"/>
              <a:t>码烧录</a:t>
            </a:r>
            <a:r>
              <a:rPr lang="en-US" altLang="zh-CN"/>
              <a:t> </a:t>
            </a:r>
            <a:r>
              <a:rPr lang="zh-CN" altLang="en-US"/>
              <a:t>，蓝牙屏蔽箱条件下</a:t>
            </a:r>
            <a:r>
              <a:rPr lang="zh-CN" altLang="en-US"/>
              <a:t>操作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854710" y="3568700"/>
            <a:ext cx="8094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BLE</a:t>
            </a:r>
            <a:r>
              <a:rPr lang="zh-CN" altLang="en-US"/>
              <a:t>的蓝牙协议定义</a:t>
            </a:r>
            <a:r>
              <a:rPr lang="en-US" altLang="zh-CN"/>
              <a:t>     UUID    (</a:t>
            </a:r>
            <a:r>
              <a:rPr lang="zh-CN" altLang="en-US"/>
              <a:t>命令、反馈、工厂指令？？？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54710" y="1352550"/>
            <a:ext cx="10438765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底软业务模块：</a:t>
            </a:r>
            <a:r>
              <a:rPr lang="en-US" altLang="zh-CN"/>
              <a:t> </a:t>
            </a:r>
            <a:r>
              <a:rPr lang="zh-CN" altLang="en-US"/>
              <a:t>生产自检业务、产品使用业务（包括</a:t>
            </a:r>
            <a:r>
              <a:rPr lang="en-US" altLang="zh-CN"/>
              <a:t>OTA</a:t>
            </a:r>
            <a:r>
              <a:rPr lang="zh-CN" altLang="en-US"/>
              <a:t>升级）、故障回收的业务</a:t>
            </a:r>
            <a:r>
              <a:rPr lang="en-US" altLang="zh-CN"/>
              <a:t>  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54710" y="2485390"/>
            <a:ext cx="10191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生产自检业务</a:t>
            </a:r>
            <a:r>
              <a:rPr lang="en-US" altLang="zh-CN"/>
              <a:t>     </a:t>
            </a:r>
            <a:r>
              <a:rPr lang="zh-CN" altLang="en-US"/>
              <a:t>与产线的</a:t>
            </a:r>
            <a:r>
              <a:rPr lang="zh-CN" altLang="en-US"/>
              <a:t>检测工装（具体是</a:t>
            </a:r>
            <a:r>
              <a:rPr lang="en-US" altLang="zh-CN"/>
              <a:t>PC</a:t>
            </a:r>
            <a:r>
              <a:rPr lang="zh-CN" altLang="en-US"/>
              <a:t>软件）交互</a:t>
            </a:r>
            <a:r>
              <a:rPr lang="zh-CN" altLang="en-US"/>
              <a:t>配合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36625" y="4514850"/>
            <a:ext cx="9399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故障回收的业务</a:t>
            </a:r>
            <a:r>
              <a:rPr lang="en-US" altLang="zh-CN"/>
              <a:t>   </a:t>
            </a:r>
            <a:r>
              <a:rPr lang="zh-CN" altLang="en-US"/>
              <a:t>配合拆壳和上电（电池）流程和工装</a:t>
            </a:r>
            <a:r>
              <a:rPr lang="en-US" altLang="zh-CN"/>
              <a:t>   </a:t>
            </a:r>
            <a:r>
              <a:rPr lang="zh-CN" altLang="en-US"/>
              <a:t>移动端软件或</a:t>
            </a:r>
            <a:r>
              <a:rPr lang="en-US" altLang="zh-CN"/>
              <a:t>PC</a:t>
            </a:r>
            <a:r>
              <a:rPr lang="zh-CN" altLang="en-US"/>
              <a:t>软件配合</a:t>
            </a:r>
            <a:r>
              <a:rPr lang="zh-CN" altLang="en-US"/>
              <a:t>使用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36625" y="4998720"/>
            <a:ext cx="98602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r>
              <a:rPr lang="zh-CN" altLang="en-US"/>
              <a:t>、上传产品用户使用过程中的记录，特别是故障记录，产线</a:t>
            </a:r>
            <a:r>
              <a:rPr lang="zh-CN" altLang="en-US"/>
              <a:t>信息；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、提取</a:t>
            </a:r>
            <a:r>
              <a:rPr lang="en-US" altLang="zh-CN"/>
              <a:t>App</a:t>
            </a:r>
            <a:r>
              <a:rPr lang="zh-CN" altLang="en-US"/>
              <a:t>上传后台的使用</a:t>
            </a:r>
            <a:r>
              <a:rPr lang="zh-CN" altLang="en-US"/>
              <a:t>信息；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、综合分析和定位故障，（考虑下</a:t>
            </a:r>
            <a:r>
              <a:rPr lang="en-US" altLang="zh-CN"/>
              <a:t> </a:t>
            </a:r>
            <a:r>
              <a:rPr lang="zh-CN" altLang="en-US"/>
              <a:t>结合</a:t>
            </a:r>
            <a:r>
              <a:rPr lang="en-US" altLang="zh-CN"/>
              <a:t>OpenClaw</a:t>
            </a:r>
            <a:r>
              <a:rPr lang="zh-CN" altLang="en-US"/>
              <a:t>的方式，训练</a:t>
            </a:r>
            <a:r>
              <a:rPr lang="en-US" altLang="zh-CN"/>
              <a:t>AI</a:t>
            </a:r>
            <a:r>
              <a:rPr lang="zh-CN" altLang="en-US"/>
              <a:t>来减少故障分析的工作</a:t>
            </a:r>
            <a:r>
              <a:rPr lang="zh-CN" altLang="en-US"/>
              <a:t>量）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54710" y="3937000"/>
            <a:ext cx="9400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r>
              <a:rPr lang="zh-CN" altLang="en-US"/>
              <a:t>、上传工厂信息到后台，</a:t>
            </a:r>
            <a:r>
              <a:rPr lang="en-US" altLang="zh-CN"/>
              <a:t>SN</a:t>
            </a:r>
            <a:r>
              <a:rPr lang="zh-CN" altLang="en-US"/>
              <a:t>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</a:t>
            </a:r>
            <a:r>
              <a:rPr lang="zh-CN" altLang="en-US" sz="2400" b="1" dirty="0" smtClean="0">
                <a:sym typeface="+mn-ea"/>
              </a:rPr>
              <a:t>框架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8320" y="1492885"/>
            <a:ext cx="1387475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应</a:t>
            </a:r>
            <a:r>
              <a:rPr lang="zh-CN" altLang="en-US"/>
              <a:t>用业务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91995" y="1377315"/>
            <a:ext cx="17164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工厂自检</a:t>
            </a:r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14470" y="1377315"/>
            <a:ext cx="17164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胰岛素</a:t>
            </a:r>
            <a:r>
              <a:rPr lang="zh-CN" altLang="en-US"/>
              <a:t>泵业务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056880" y="1377315"/>
            <a:ext cx="229743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业务故障回收</a:t>
            </a:r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2615" y="2369820"/>
            <a:ext cx="108521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模块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15795" y="226377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电池</a:t>
            </a:r>
            <a:r>
              <a:rPr lang="zh-CN" altLang="en-US"/>
              <a:t>监测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15795" y="315023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记忆丝驱动和</a:t>
            </a:r>
            <a:r>
              <a:rPr lang="zh-CN" altLang="en-US"/>
              <a:t>监测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660775" y="226377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时间校准（同步</a:t>
            </a:r>
            <a:r>
              <a:rPr lang="zh-CN" altLang="en-US"/>
              <a:t>更新）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081135" y="2263775"/>
            <a:ext cx="2066290" cy="6864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FlexiPod </a:t>
            </a:r>
            <a:r>
              <a:rPr lang="zh-CN" altLang="en-US"/>
              <a:t>的</a:t>
            </a:r>
            <a:r>
              <a:rPr lang="en-US" altLang="zh-CN"/>
              <a:t>BLE</a:t>
            </a:r>
            <a:r>
              <a:rPr lang="zh-CN" altLang="en-US"/>
              <a:t>服务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75990" y="3044190"/>
            <a:ext cx="2134235" cy="860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泵的推注订单管理（基础率、临时基础率、大</a:t>
            </a:r>
            <a:r>
              <a:rPr lang="zh-CN" altLang="en-US"/>
              <a:t>剂量）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338445" y="2263775"/>
            <a:ext cx="2098040" cy="7467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数据存储</a:t>
            </a:r>
            <a:r>
              <a:rPr lang="zh-CN" altLang="en-US"/>
              <a:t>管理</a:t>
            </a:r>
            <a:endParaRPr lang="zh-CN" altLang="en-US"/>
          </a:p>
          <a:p>
            <a:pPr algn="ctr"/>
            <a:r>
              <a:rPr lang="zh-CN" altLang="en-US"/>
              <a:t>（事件、推注</a:t>
            </a:r>
            <a:r>
              <a:rPr lang="zh-CN" altLang="en-US"/>
              <a:t>定制、故障等</a:t>
            </a:r>
            <a:r>
              <a:rPr lang="zh-CN" altLang="en-US"/>
              <a:t>存储）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06135" y="1377315"/>
            <a:ext cx="197548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OTA</a:t>
            </a:r>
            <a:r>
              <a:rPr lang="zh-CN" altLang="en-US"/>
              <a:t>升级</a:t>
            </a:r>
            <a:r>
              <a:rPr lang="zh-CN" altLang="en-US"/>
              <a:t>的业务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495540" y="2289810"/>
            <a:ext cx="1525905" cy="721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提示和报警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300210" y="3190240"/>
            <a:ext cx="2058670" cy="6769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FlexiPod</a:t>
            </a:r>
            <a:r>
              <a:rPr lang="zh-CN" altLang="en-US">
                <a:sym typeface="+mn-ea"/>
              </a:rPr>
              <a:t>的工厂</a:t>
            </a:r>
            <a:r>
              <a:rPr lang="zh-CN" altLang="en-US"/>
              <a:t>串口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715635" y="3088640"/>
            <a:ext cx="1564005" cy="838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泵状态监测</a:t>
            </a:r>
            <a:br>
              <a:rPr lang="zh-CN" altLang="en-US"/>
            </a:br>
            <a:r>
              <a:rPr lang="zh-CN" altLang="en-US"/>
              <a:t>（气泡、胰岛素</a:t>
            </a:r>
            <a:r>
              <a:rPr lang="zh-CN" altLang="en-US"/>
              <a:t>容量）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21005" y="4577080"/>
            <a:ext cx="146304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硬件驱动层</a:t>
            </a:r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30480" y="2085340"/>
            <a:ext cx="11611610" cy="762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42545" y="4248150"/>
            <a:ext cx="11611610" cy="762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915795" y="436562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3613785" y="436562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定时器（是否增加</a:t>
            </a:r>
            <a:r>
              <a:rPr lang="en-US" altLang="zh-CN"/>
              <a:t>RTC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248275" y="436562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Flash (</a:t>
            </a:r>
            <a:r>
              <a:rPr lang="zh-CN" altLang="en-US"/>
              <a:t>内置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6755765" y="4365625"/>
            <a:ext cx="19450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GPIO</a:t>
            </a:r>
            <a:r>
              <a:rPr lang="zh-CN" altLang="en-US"/>
              <a:t>输出和</a:t>
            </a:r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081135" y="4365625"/>
            <a:ext cx="2066290" cy="608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 </a:t>
            </a:r>
            <a:r>
              <a:rPr lang="en-US"/>
              <a:t>RTOS (</a:t>
            </a:r>
            <a:r>
              <a:rPr lang="en-US" altLang="zh-CN"/>
              <a:t>Zephyr</a:t>
            </a:r>
            <a:r>
              <a:rPr lang="en-US"/>
              <a:t>)</a:t>
            </a:r>
            <a:endParaRPr lang="en-US"/>
          </a:p>
        </p:txBody>
      </p:sp>
      <p:sp>
        <p:nvSpPr>
          <p:cNvPr id="38" name="矩形 37"/>
          <p:cNvSpPr/>
          <p:nvPr/>
        </p:nvSpPr>
        <p:spPr>
          <a:xfrm>
            <a:off x="7365365" y="3227070"/>
            <a:ext cx="1849120" cy="6203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异常重启的处理模块（待</a:t>
            </a:r>
            <a:r>
              <a:rPr lang="zh-CN" altLang="en-US"/>
              <a:t>讨论）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关于底软的框架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（增加闭环</a:t>
            </a:r>
            <a:r>
              <a:rPr lang="zh-CN" altLang="en-US" sz="2400" b="1" dirty="0" smtClean="0">
                <a:sym typeface="+mn-ea"/>
              </a:rPr>
              <a:t>算法）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8320" y="1492885"/>
            <a:ext cx="1387475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应</a:t>
            </a:r>
            <a:r>
              <a:rPr lang="zh-CN" altLang="en-US"/>
              <a:t>用业务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991995" y="1377315"/>
            <a:ext cx="17164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工厂自检</a:t>
            </a:r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14470" y="1377315"/>
            <a:ext cx="17164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胰岛素</a:t>
            </a:r>
            <a:r>
              <a:rPr lang="zh-CN" altLang="en-US"/>
              <a:t>泵业务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056880" y="1377315"/>
            <a:ext cx="229743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业务故障回收</a:t>
            </a:r>
            <a:r>
              <a:rPr lang="zh-CN" altLang="en-US"/>
              <a:t>业务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2615" y="2369820"/>
            <a:ext cx="108521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模块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15795" y="226377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电池</a:t>
            </a:r>
            <a:r>
              <a:rPr lang="zh-CN" altLang="en-US"/>
              <a:t>监测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15795" y="315023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记忆丝驱动和</a:t>
            </a:r>
            <a:r>
              <a:rPr lang="zh-CN" altLang="en-US"/>
              <a:t>监测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660775" y="2263775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时间校准（同步</a:t>
            </a:r>
            <a:r>
              <a:rPr lang="zh-CN" altLang="en-US"/>
              <a:t>更新）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9214485" y="2245360"/>
            <a:ext cx="2066290" cy="6864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FlexiPod </a:t>
            </a:r>
            <a:r>
              <a:rPr lang="zh-CN" altLang="en-US"/>
              <a:t>的</a:t>
            </a:r>
            <a:r>
              <a:rPr lang="en-US" altLang="zh-CN"/>
              <a:t>BLE</a:t>
            </a:r>
            <a:r>
              <a:rPr lang="zh-CN" altLang="en-US"/>
              <a:t>服务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475990" y="3044190"/>
            <a:ext cx="2134235" cy="8604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泵的推注订单管理（基础率、临时基础率、大</a:t>
            </a:r>
            <a:r>
              <a:rPr lang="zh-CN" altLang="en-US"/>
              <a:t>剂量）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338445" y="2181225"/>
            <a:ext cx="2098040" cy="8293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数据存储</a:t>
            </a:r>
            <a:r>
              <a:rPr lang="zh-CN" altLang="en-US"/>
              <a:t>管理</a:t>
            </a:r>
            <a:endParaRPr lang="zh-CN" altLang="en-US"/>
          </a:p>
          <a:p>
            <a:pPr algn="ctr"/>
            <a:r>
              <a:rPr lang="zh-CN" altLang="en-US"/>
              <a:t>（事件、推注</a:t>
            </a:r>
            <a:r>
              <a:rPr lang="zh-CN" altLang="en-US"/>
              <a:t>定制、故障等</a:t>
            </a:r>
            <a:r>
              <a:rPr lang="zh-CN" altLang="en-US"/>
              <a:t>存储）</a:t>
            </a:r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06135" y="1377315"/>
            <a:ext cx="197548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OTA</a:t>
            </a:r>
            <a:r>
              <a:rPr lang="zh-CN" altLang="en-US"/>
              <a:t>升级</a:t>
            </a:r>
            <a:r>
              <a:rPr lang="zh-CN" altLang="en-US"/>
              <a:t>的业务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495540" y="2226945"/>
            <a:ext cx="1525905" cy="7213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提示和报警</a:t>
            </a:r>
            <a:r>
              <a:rPr lang="zh-CN" altLang="en-US"/>
              <a:t>管理</a:t>
            </a: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349105" y="3261360"/>
            <a:ext cx="2058670" cy="6769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FlexiPod</a:t>
            </a:r>
            <a:r>
              <a:rPr lang="zh-CN" altLang="en-US">
                <a:sym typeface="+mn-ea"/>
              </a:rPr>
              <a:t>的工厂</a:t>
            </a:r>
            <a:r>
              <a:rPr lang="zh-CN" altLang="en-US"/>
              <a:t>串口</a:t>
            </a:r>
            <a:r>
              <a:rPr lang="zh-CN" altLang="en-US"/>
              <a:t>协议</a:t>
            </a:r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5715635" y="3088640"/>
            <a:ext cx="1564005" cy="838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泵状态监测</a:t>
            </a:r>
            <a:br>
              <a:rPr lang="zh-CN" altLang="en-US"/>
            </a:br>
            <a:r>
              <a:rPr lang="zh-CN" altLang="en-US"/>
              <a:t>（气泡、胰岛素</a:t>
            </a:r>
            <a:r>
              <a:rPr lang="zh-CN" altLang="en-US"/>
              <a:t>容量）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24790" y="5296535"/>
            <a:ext cx="146304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硬件驱动层</a:t>
            </a:r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 flipV="1">
            <a:off x="30480" y="2085340"/>
            <a:ext cx="11611610" cy="762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42545" y="4981575"/>
            <a:ext cx="11611610" cy="7620"/>
          </a:xfrm>
          <a:prstGeom prst="line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800860" y="5085080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ADC</a:t>
            </a:r>
            <a:endParaRPr lang="en-US" altLang="zh-CN"/>
          </a:p>
        </p:txBody>
      </p:sp>
      <p:sp>
        <p:nvSpPr>
          <p:cNvPr id="33" name="矩形 32"/>
          <p:cNvSpPr/>
          <p:nvPr/>
        </p:nvSpPr>
        <p:spPr>
          <a:xfrm>
            <a:off x="3475990" y="5085080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定时器（是否增加</a:t>
            </a:r>
            <a:r>
              <a:rPr lang="en-US" altLang="zh-CN"/>
              <a:t>RTC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151120" y="5085080"/>
            <a:ext cx="1412240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Flash (</a:t>
            </a:r>
            <a:r>
              <a:rPr lang="zh-CN" altLang="en-US"/>
              <a:t>内置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6" name="矩形 35"/>
          <p:cNvSpPr/>
          <p:nvPr/>
        </p:nvSpPr>
        <p:spPr>
          <a:xfrm>
            <a:off x="6755765" y="5087620"/>
            <a:ext cx="1945005" cy="6096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GPIO</a:t>
            </a:r>
            <a:r>
              <a:rPr lang="zh-CN" altLang="en-US"/>
              <a:t>输出和</a:t>
            </a:r>
            <a:r>
              <a:rPr lang="zh-CN" altLang="en-US"/>
              <a:t>输入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021445" y="5070475"/>
            <a:ext cx="2066290" cy="60896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 </a:t>
            </a:r>
            <a:r>
              <a:rPr lang="en-US"/>
              <a:t>RTOS (</a:t>
            </a:r>
            <a:r>
              <a:rPr lang="en-US" altLang="zh-CN"/>
              <a:t>Zephyr</a:t>
            </a:r>
            <a:r>
              <a:rPr lang="en-US"/>
              <a:t>)</a:t>
            </a:r>
            <a:endParaRPr lang="en-US"/>
          </a:p>
        </p:txBody>
      </p:sp>
      <p:sp>
        <p:nvSpPr>
          <p:cNvPr id="38" name="矩形 37"/>
          <p:cNvSpPr/>
          <p:nvPr/>
        </p:nvSpPr>
        <p:spPr>
          <a:xfrm>
            <a:off x="7365365" y="3227070"/>
            <a:ext cx="1849120" cy="6203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异常重启的处理模块（待</a:t>
            </a:r>
            <a:r>
              <a:rPr lang="zh-CN" altLang="en-US"/>
              <a:t>讨论）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95540" y="4054475"/>
            <a:ext cx="1412240" cy="72072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闭环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341485" y="4054475"/>
            <a:ext cx="2066290" cy="68643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CGM</a:t>
            </a:r>
            <a:r>
              <a:rPr lang="zh-CN" altLang="en-US"/>
              <a:t>的</a:t>
            </a:r>
            <a:r>
              <a:rPr lang="en-US" altLang="zh-CN"/>
              <a:t>BLE</a:t>
            </a:r>
            <a:r>
              <a:rPr lang="zh-CN" altLang="en-US"/>
              <a:t>客户端协议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胰岛素泵初步流程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32264" y="1287768"/>
          <a:ext cx="11203213" cy="3665739"/>
        </p:xfrm>
        <a:graphic>
          <a:graphicData uri="http://schemas.openxmlformats.org/drawingml/2006/table">
            <a:tbl>
              <a:tblPr/>
              <a:tblGrid>
                <a:gridCol w="582836"/>
                <a:gridCol w="1503833"/>
                <a:gridCol w="1519424"/>
                <a:gridCol w="1519424"/>
                <a:gridCol w="1519424"/>
                <a:gridCol w="1519424"/>
                <a:gridCol w="1519424"/>
                <a:gridCol w="1519424"/>
              </a:tblGrid>
              <a:tr h="3627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主要工序</a:t>
                      </a:r>
                      <a:endParaRPr lang="zh-CN" alt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底座和注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针柱子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组装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压杆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组装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磁铁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组件组装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管路组件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5.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阀门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手臂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7.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记忆丝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组装</a:t>
                      </a:r>
                      <a:endParaRPr lang="en-US" altLang="zh-CN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21972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示意图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59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备注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超声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焊接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速干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胶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UV</a:t>
                      </a: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照光</a:t>
                      </a:r>
                      <a:r>
                        <a:rPr lang="en-US" altLang="zh-CN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气密</a:t>
                      </a: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检测</a:t>
                      </a:r>
                      <a:endParaRPr lang="zh-CN" altLang="en-US" sz="8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速干胶</a:t>
                      </a:r>
                      <a:endParaRPr lang="zh-CN" altLang="en-US" sz="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49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主要工序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注药口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9.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注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针组装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电路板组件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焊线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电池组装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13.</a:t>
                      </a:r>
                      <a:r>
                        <a:rPr lang="en-US" altLang="zh-CN" sz="9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药囊组装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14.</a:t>
                      </a:r>
                      <a:r>
                        <a:rPr lang="en-US" altLang="zh-CN" sz="900" b="1" kern="1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外壳组装</a:t>
                      </a:r>
                      <a:endParaRPr lang="zh-CN" altLang="en-US" sz="900" b="1" kern="1200" baseline="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2408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示意图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备注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速干胶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按键功能性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检测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主板功能</a:t>
                      </a:r>
                      <a:r>
                        <a:rPr lang="zh-CN" altLang="en-US" sz="8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测试</a:t>
                      </a:r>
                      <a:endParaRPr lang="zh-CN" altLang="en-US" sz="8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功能测试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双面</a:t>
                      </a:r>
                      <a:r>
                        <a:rPr lang="zh-CN" altLang="en-US" sz="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胶</a:t>
                      </a:r>
                      <a:endParaRPr lang="zh-CN" altLang="en-US" sz="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双面胶</a:t>
                      </a:r>
                      <a:r>
                        <a:rPr lang="en-US" altLang="zh-CN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&amp;UV</a:t>
                      </a: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照光</a:t>
                      </a:r>
                      <a:r>
                        <a:rPr lang="en-US" altLang="zh-CN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气密检测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焊线</a:t>
                      </a: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超声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焊接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532264" y="4928223"/>
          <a:ext cx="11203305" cy="1847850"/>
        </p:xfrm>
        <a:graphic>
          <a:graphicData uri="http://schemas.openxmlformats.org/drawingml/2006/table">
            <a:tbl>
              <a:tblPr/>
              <a:tblGrid>
                <a:gridCol w="582836"/>
                <a:gridCol w="1503833"/>
                <a:gridCol w="1519424"/>
                <a:gridCol w="1519424"/>
                <a:gridCol w="1519424"/>
                <a:gridCol w="1519424"/>
                <a:gridCol w="1519424"/>
                <a:gridCol w="1519424"/>
              </a:tblGrid>
              <a:tr h="34495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主要工序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15.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敷贴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贴膜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底板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固定座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16.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安全扣组装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17.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内包装</a:t>
                      </a: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标签</a:t>
                      </a: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&amp;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灭菌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标识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18. </a:t>
                      </a: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中包装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标签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灭菌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标识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19. 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外包装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20. 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EO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灭菌</a:t>
                      </a:r>
                      <a:r>
                        <a:rPr lang="en-US" altLang="zh-CN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解析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焊线</a:t>
                      </a:r>
                      <a:r>
                        <a:rPr lang="zh-CN" altLang="en-US" sz="9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细节</a:t>
                      </a:r>
                      <a:endParaRPr lang="zh-CN" altLang="en-US" sz="9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2408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示意图</a:t>
                      </a:r>
                      <a:endParaRPr lang="zh-CN" altLang="en-US" sz="900" b="1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10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1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备注</a:t>
                      </a:r>
                      <a:endParaRPr lang="zh-CN" altLang="en-US" sz="900" b="1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螺丝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固定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/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吸塑盒包装</a:t>
                      </a: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&amp;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热压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白盒</a:t>
                      </a:r>
                      <a:r>
                        <a:rPr lang="en-US" altLang="zh-CN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800" b="0" kern="1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彩盒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瓦楞纸箱</a:t>
                      </a:r>
                      <a:endParaRPr lang="zh-CN" altLang="en-US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800" b="0" kern="1200" dirty="0" smtClean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9401" marR="29401" marT="14700" marB="147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45" y="3606800"/>
            <a:ext cx="1332865" cy="9334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725" y="5353685"/>
            <a:ext cx="960755" cy="113411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560" y="1853565"/>
            <a:ext cx="1373505" cy="81597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0495" y="1853565"/>
            <a:ext cx="1371600" cy="80327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5920" y="1853565"/>
            <a:ext cx="1400810" cy="80264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1035" y="1853565"/>
            <a:ext cx="1336675" cy="80264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425" y="1853565"/>
            <a:ext cx="1453515" cy="78803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6650" y="1870710"/>
            <a:ext cx="1399540" cy="77660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6680" y="1853565"/>
            <a:ext cx="1403350" cy="78803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8560" y="3648710"/>
            <a:ext cx="1366520" cy="84010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2240" y="3648710"/>
            <a:ext cx="1372870" cy="83947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2430" y="3648710"/>
            <a:ext cx="1362710" cy="83185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4875" y="3607435"/>
            <a:ext cx="1367155" cy="9328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39505" y="3607435"/>
            <a:ext cx="1436370" cy="944880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66680" y="3607435"/>
            <a:ext cx="1417955" cy="944880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8720" y="5467985"/>
            <a:ext cx="1362710" cy="82740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90495" y="5480050"/>
            <a:ext cx="1388745" cy="817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4235" y="4676775"/>
            <a:ext cx="1732915" cy="204533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关于主板功能测试的</a:t>
            </a:r>
            <a:r>
              <a:rPr lang="zh-CN" altLang="en-US" sz="2400" b="1" dirty="0" smtClean="0">
                <a:sym typeface="+mn-ea"/>
              </a:rPr>
              <a:t>描述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80110" y="2310130"/>
            <a:ext cx="2022475" cy="155638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0110" y="3329305"/>
            <a:ext cx="1901825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电路板、焊接、电池组装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左右箭头 6"/>
          <p:cNvSpPr/>
          <p:nvPr/>
        </p:nvSpPr>
        <p:spPr>
          <a:xfrm>
            <a:off x="2987675" y="2997200"/>
            <a:ext cx="499745" cy="245110"/>
          </a:xfrm>
          <a:prstGeom prst="left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72510" y="2327910"/>
            <a:ext cx="1507490" cy="14484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PC</a:t>
            </a:r>
            <a:r>
              <a:rPr lang="zh-CN" altLang="en-US"/>
              <a:t>检测</a:t>
            </a:r>
            <a:r>
              <a:rPr lang="zh-CN" altLang="en-US"/>
              <a:t>软件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978150" y="2690495"/>
            <a:ext cx="6864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串口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0110" y="4149090"/>
            <a:ext cx="2006600" cy="7112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简易功耗仪、逻辑分析仪</a:t>
            </a:r>
            <a:r>
              <a:rPr lang="zh-CN" altLang="en-US"/>
              <a:t>等</a:t>
            </a:r>
            <a:endParaRPr lang="zh-CN" altLang="en-US"/>
          </a:p>
        </p:txBody>
      </p:sp>
      <p:sp>
        <p:nvSpPr>
          <p:cNvPr id="12" name="左右箭头 11"/>
          <p:cNvSpPr/>
          <p:nvPr/>
        </p:nvSpPr>
        <p:spPr>
          <a:xfrm rot="16200000">
            <a:off x="1756410" y="3893185"/>
            <a:ext cx="284480" cy="197485"/>
          </a:xfrm>
          <a:prstGeom prst="left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063115" y="3801745"/>
            <a:ext cx="915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测试点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左右箭头 13"/>
          <p:cNvSpPr/>
          <p:nvPr/>
        </p:nvSpPr>
        <p:spPr>
          <a:xfrm rot="5400000">
            <a:off x="1750060" y="1983740"/>
            <a:ext cx="353695" cy="251460"/>
          </a:xfrm>
          <a:prstGeom prst="left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998345" y="1885950"/>
            <a:ext cx="7835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JTAG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89710" y="1351280"/>
            <a:ext cx="882015" cy="4997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烧录器</a:t>
            </a:r>
            <a:endParaRPr lang="zh-CN" altLang="en-US"/>
          </a:p>
        </p:txBody>
      </p:sp>
      <p:sp>
        <p:nvSpPr>
          <p:cNvPr id="17" name="直角双向箭头 16"/>
          <p:cNvSpPr/>
          <p:nvPr/>
        </p:nvSpPr>
        <p:spPr>
          <a:xfrm rot="16200000">
            <a:off x="3201035" y="1119505"/>
            <a:ext cx="584200" cy="1423035"/>
          </a:xfrm>
          <a:prstGeom prst="leftUp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直角双向箭头 17"/>
          <p:cNvSpPr/>
          <p:nvPr/>
        </p:nvSpPr>
        <p:spPr>
          <a:xfrm rot="16200000" flipH="1">
            <a:off x="3402965" y="3472180"/>
            <a:ext cx="608330" cy="1439545"/>
          </a:xfrm>
          <a:prstGeom prst="leftUp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234055" y="1755140"/>
            <a:ext cx="66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USB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3284855" y="3888740"/>
            <a:ext cx="669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USB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946150" y="5030470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</a:t>
            </a:r>
            <a:r>
              <a:rPr lang="zh-CN" altLang="en-US"/>
              <a:t>主板功能测试工装</a:t>
            </a:r>
            <a:r>
              <a:rPr lang="zh-CN" altLang="en-US"/>
              <a:t>示意图</a:t>
            </a:r>
            <a:endParaRPr lang="zh-CN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241925" y="1322705"/>
          <a:ext cx="6094730" cy="51542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32305"/>
                <a:gridCol w="4162425"/>
              </a:tblGrid>
              <a:tr h="27686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主板功能测试的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事项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事项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描述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209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烧录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固件烧录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848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设备信息烧录和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检验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蓝牙号、底软版本、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PCBA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版本、技术参数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、关键部件（记忆丝、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电池）批次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信息（例如：基础率范围和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默认值）等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信息。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电池检测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电池的初始电压值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（空载和最大负载）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评估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PCBA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焊接完成后，探测电池实际剩余容量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911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功耗检测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借助功耗仪进行检测出厂前的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PCBA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具体功耗。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特别是记忆丝工作时的功耗情况。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（磁控开关）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708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记忆丝工作和检验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借助驱动记忆丝线驱动推注工作，磁铁检测来判断是否执行到位，统计驱动和检测到闭合的时间间隔。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记忆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丝内阻测试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62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蓝牙基本功能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此阶段只是测试基本蓝牙广播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功能。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209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其他检测</a:t>
                      </a:r>
                      <a:endParaRPr lang="zh-CN" altLang="en-US" sz="1600" u="sng" strike="sng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温度、计数等检测</a:t>
                      </a:r>
                      <a:r>
                        <a:rPr lang="en-US" altLang="zh-CN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（预留</a:t>
                      </a:r>
                      <a:r>
                        <a:rPr lang="en-US" altLang="zh-CN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u="sng" strike="sngStrike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气泡功能）</a:t>
                      </a:r>
                      <a:endParaRPr lang="zh-CN" altLang="en-US" sz="1600" u="sng" strike="sngStrike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基本参数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基础率、临时基础率、大剂量的典型操作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报警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检测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人为制造的阻塞、低药量等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报警。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Flash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检验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擦除用户数据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区域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内置晶振频偏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技术上不一定能低成本实现，时间不对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齐。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40" y="2360295"/>
            <a:ext cx="1367155" cy="93281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0" y="5716270"/>
            <a:ext cx="1362710" cy="8318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1620" y="5716270"/>
            <a:ext cx="1250315" cy="8756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80110" y="1920240"/>
            <a:ext cx="2612390" cy="216598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</a:t>
            </a:r>
            <a:r>
              <a:rPr lang="en-US" altLang="zh-CN" sz="2400" b="1" dirty="0" smtClean="0">
                <a:sym typeface="+mn-ea"/>
              </a:rPr>
              <a:t> FTS(</a:t>
            </a:r>
            <a:r>
              <a:rPr lang="en-US" altLang="zh-CN" sz="2400" b="1" dirty="0" smtClean="0">
                <a:sym typeface="+mn-ea"/>
              </a:rPr>
              <a:t>Field Test System</a:t>
            </a:r>
            <a:r>
              <a:rPr lang="en-US" altLang="zh-CN" sz="2400" b="1" dirty="0" smtClean="0">
                <a:sym typeface="+mn-ea"/>
              </a:rPr>
              <a:t>)</a:t>
            </a:r>
            <a:r>
              <a:rPr lang="zh-CN" altLang="en-US" sz="2400" b="1" dirty="0" smtClean="0">
                <a:sym typeface="+mn-ea"/>
              </a:rPr>
              <a:t>测试</a:t>
            </a:r>
            <a:endParaRPr lang="en-US" altLang="zh-CN" sz="2400" b="1" dirty="0" smtClean="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91565" y="2327910"/>
            <a:ext cx="2022475" cy="14382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35730" y="2158365"/>
            <a:ext cx="960755" cy="14484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FTS</a:t>
            </a:r>
            <a:r>
              <a:rPr lang="zh-CN" altLang="en-US"/>
              <a:t>检测</a:t>
            </a:r>
            <a:r>
              <a:rPr lang="zh-CN" altLang="en-US"/>
              <a:t>软件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253490" y="447992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FTS</a:t>
            </a:r>
            <a:r>
              <a:rPr lang="zh-CN" altLang="en-US"/>
              <a:t>测试</a:t>
            </a:r>
            <a:r>
              <a:rPr lang="zh-CN" altLang="en-US"/>
              <a:t>的示意图</a:t>
            </a:r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" y="2407285"/>
            <a:ext cx="1388745" cy="817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96365" y="3320415"/>
            <a:ext cx="1557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整机</a:t>
            </a:r>
            <a:r>
              <a:rPr lang="zh-CN" altLang="en-US"/>
              <a:t>组装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184910" y="1943735"/>
            <a:ext cx="230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信号和</a:t>
            </a:r>
            <a:r>
              <a:rPr lang="zh-CN" altLang="en-US"/>
              <a:t>声音屏蔽</a:t>
            </a:r>
            <a:r>
              <a:rPr lang="zh-CN" altLang="en-US"/>
              <a:t>箱</a:t>
            </a:r>
            <a:endParaRPr lang="zh-CN" altLang="en-US"/>
          </a:p>
        </p:txBody>
      </p:sp>
      <p:sp>
        <p:nvSpPr>
          <p:cNvPr id="23" name="左右箭头 22"/>
          <p:cNvSpPr/>
          <p:nvPr/>
        </p:nvSpPr>
        <p:spPr>
          <a:xfrm>
            <a:off x="3222625" y="2752090"/>
            <a:ext cx="713105" cy="235585"/>
          </a:xfrm>
          <a:prstGeom prst="leftRightArrow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492500" y="2987675"/>
            <a:ext cx="5511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线缆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5447665" y="1479550"/>
          <a:ext cx="6094730" cy="3916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880"/>
                <a:gridCol w="4387850"/>
              </a:tblGrid>
              <a:tr h="28765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FTS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测试的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事项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92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事项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描述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1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磁控开关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检验磁控开关的功能是否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正常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65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设备信息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更改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SN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码、地区码、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产品线、（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天或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7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天）的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更改。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67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OTA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升级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检验是否最新版本，否则进行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OTA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升级。（解决生产过程中，底软更新的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问题。）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879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蓝牙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检测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蓝牙信号、通讯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测试；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蜂鸣器和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振动马达的检验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不同提示或报警功能的检测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95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电池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二次检测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电池的初始电压值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（空载和最大负载）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出厂日期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89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 </a:t>
            </a:r>
            <a:r>
              <a:rPr lang="zh-CN" altLang="en-US" sz="2400" b="1" dirty="0" smtClean="0">
                <a:sym typeface="+mn-ea"/>
              </a:rPr>
              <a:t>关于公开的胰岛素泵通讯</a:t>
            </a:r>
            <a:r>
              <a:rPr lang="zh-CN" altLang="en-US" sz="2400" b="1" dirty="0" smtClean="0">
                <a:sym typeface="+mn-ea"/>
              </a:rPr>
              <a:t>协议</a:t>
            </a:r>
            <a:endParaRPr lang="zh-CN" altLang="en-US" sz="24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065" y="1628140"/>
            <a:ext cx="8867775" cy="4916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5505" y="1259840"/>
            <a:ext cx="10556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Insulin Delivery Profile (IDP)    Bluetooth  SIG      </a:t>
            </a:r>
            <a:r>
              <a:rPr lang="zh-CN" altLang="en-US"/>
              <a:t>后续再细化阐述为什么不建议推进公开的</a:t>
            </a:r>
            <a:r>
              <a:rPr lang="zh-CN" altLang="en-US"/>
              <a:t>标准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 </a:t>
            </a:r>
            <a:r>
              <a:rPr lang="zh-CN" altLang="en-US" sz="2400" b="1" dirty="0" smtClean="0">
                <a:sym typeface="+mn-ea"/>
              </a:rPr>
              <a:t>关于胰岛素泵的</a:t>
            </a:r>
            <a:r>
              <a:rPr lang="zh-CN" altLang="en-US" sz="2400" b="1" dirty="0" smtClean="0">
                <a:sym typeface="+mn-ea"/>
              </a:rPr>
              <a:t>蓝牙私有协议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45185" y="1486535"/>
            <a:ext cx="2442845" cy="30060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45185" y="1486535"/>
            <a:ext cx="2442845" cy="12687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Insulin Delivery Profile Collector Role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835025" y="2764155"/>
            <a:ext cx="2453005" cy="4806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GAT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845185" y="3253740"/>
            <a:ext cx="784225" cy="4806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ATT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1629410" y="3253740"/>
            <a:ext cx="784225" cy="4806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GAP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2411730" y="3253740"/>
            <a:ext cx="876300" cy="49085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SM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843915" y="3743325"/>
            <a:ext cx="2444115" cy="3975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L2</a:t>
            </a:r>
            <a:r>
              <a:rPr lang="en-US" altLang="zh-CN"/>
              <a:t>CAP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845185" y="4149725"/>
            <a:ext cx="2453005" cy="3352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Controller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1386840" y="4608195"/>
            <a:ext cx="1746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俗称</a:t>
            </a:r>
            <a:r>
              <a:rPr lang="zh-CN" altLang="en-US"/>
              <a:t>客户端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38955" y="1494155"/>
            <a:ext cx="6486525" cy="30721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338955" y="1494155"/>
            <a:ext cx="6486525" cy="70231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Insulin Delivery Profile Sensor Role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338955" y="2766695"/>
            <a:ext cx="6513195" cy="4914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GAT</a:t>
            </a:r>
            <a:r>
              <a:rPr lang="en-US" altLang="zh-CN"/>
              <a:t>T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4338955" y="3251835"/>
            <a:ext cx="2082165" cy="4914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ATT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421120" y="3247390"/>
            <a:ext cx="2082165" cy="4914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GAP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8503285" y="3243580"/>
            <a:ext cx="2326640" cy="50165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SM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4335780" y="3743325"/>
            <a:ext cx="6489700" cy="4064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L2</a:t>
            </a:r>
            <a:r>
              <a:rPr lang="en-US" altLang="zh-CN"/>
              <a:t>CAP</a:t>
            </a:r>
            <a:endParaRPr lang="en-US" altLang="zh-CN"/>
          </a:p>
        </p:txBody>
      </p:sp>
      <p:sp>
        <p:nvSpPr>
          <p:cNvPr id="23" name="矩形 22"/>
          <p:cNvSpPr/>
          <p:nvPr/>
        </p:nvSpPr>
        <p:spPr>
          <a:xfrm>
            <a:off x="4338955" y="4149725"/>
            <a:ext cx="6485890" cy="4089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Controller</a:t>
            </a:r>
            <a:endParaRPr lang="en-US" altLang="zh-CN"/>
          </a:p>
        </p:txBody>
      </p:sp>
      <p:sp>
        <p:nvSpPr>
          <p:cNvPr id="24" name="矩形 23"/>
          <p:cNvSpPr/>
          <p:nvPr/>
        </p:nvSpPr>
        <p:spPr>
          <a:xfrm>
            <a:off x="4335780" y="2194560"/>
            <a:ext cx="2607945" cy="57467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FlexiPod Service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6943725" y="2206625"/>
            <a:ext cx="3882390" cy="5467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Factory Service ???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5564505" y="4603115"/>
            <a:ext cx="329311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FlexiPod</a:t>
            </a:r>
            <a:r>
              <a:rPr lang="zh-CN" altLang="en-US"/>
              <a:t>的</a:t>
            </a:r>
            <a:r>
              <a:rPr lang="en-US" altLang="zh-CN"/>
              <a:t>BLE</a:t>
            </a:r>
            <a:r>
              <a:rPr lang="zh-CN" altLang="en-US"/>
              <a:t>服务</a:t>
            </a:r>
            <a:r>
              <a:rPr lang="zh-CN" altLang="en-US"/>
              <a:t>示意图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35025" y="5174615"/>
            <a:ext cx="10617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工厂服务</a:t>
            </a:r>
            <a:r>
              <a:rPr lang="en-US" altLang="zh-CN"/>
              <a:t>UUID</a:t>
            </a:r>
            <a:r>
              <a:rPr lang="zh-CN" altLang="en-US"/>
              <a:t>指生产过程中，启动该服务是用于</a:t>
            </a:r>
            <a:r>
              <a:rPr lang="en-US" altLang="zh-CN"/>
              <a:t>FTS</a:t>
            </a:r>
            <a:r>
              <a:rPr lang="zh-CN" altLang="en-US"/>
              <a:t>测试环节，</a:t>
            </a:r>
            <a:r>
              <a:rPr lang="en-US" altLang="zh-CN"/>
              <a:t> </a:t>
            </a:r>
            <a:r>
              <a:rPr lang="zh-CN" altLang="en-US"/>
              <a:t>完成该环节后，关闭该服务。</a:t>
            </a:r>
            <a:r>
              <a:rPr lang="en-US" altLang="zh-CN"/>
              <a:t> </a:t>
            </a:r>
            <a:r>
              <a:rPr lang="zh-CN" altLang="en-US">
                <a:solidFill>
                  <a:srgbClr val="FF0000"/>
                </a:solidFill>
              </a:rPr>
              <a:t>待讨论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</a:t>
            </a:r>
            <a:r>
              <a:rPr lang="zh-CN" altLang="en-US" sz="2400" b="1" dirty="0" smtClean="0">
                <a:sym typeface="+mn-ea"/>
              </a:rPr>
              <a:t>定义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91845" y="1315720"/>
          <a:ext cx="6866890" cy="53854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2875"/>
                <a:gridCol w="2339975"/>
                <a:gridCol w="2364740"/>
                <a:gridCol w="749300"/>
              </a:tblGrid>
              <a:tr h="28956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广播包的协议定义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10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域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取值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字节数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Flags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Len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400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type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Data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0x06</a:t>
                      </a:r>
                      <a:endParaRPr lang="en-US" altLang="zh-CN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Service Data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Len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47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type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0x16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47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Data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GS3*-BEABLA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16-bit UUID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Len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Type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781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NUS service UUID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0x30FF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待定）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1145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manufacturer specific data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Len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796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type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0xFF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768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Factory test data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0xAA55********************  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（可考虑去除）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835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local name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Len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83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AD type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0x09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768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name value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LTyymm######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待定）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3083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总字节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数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48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</a:t>
            </a:r>
            <a:r>
              <a:rPr lang="zh-CN" altLang="en-US" sz="2400" b="1" dirty="0" smtClean="0">
                <a:sym typeface="+mn-ea"/>
              </a:rPr>
              <a:t>定义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3440" y="6454775"/>
            <a:ext cx="5241925" cy="389255"/>
          </a:xfrm>
          <a:prstGeom prst="rect">
            <a:avLst/>
          </a:prstGeom>
        </p:spPr>
        <p:txBody>
          <a:bodyPr>
            <a:noAutofit/>
          </a:bodyPr>
          <a:p>
            <a:pPr algn="l" defTabSz="914400">
              <a:buClrTx/>
              <a:buSzTx/>
              <a:buFontTx/>
            </a:pPr>
            <a:r>
              <a:rPr lang="zh-CN" altLang="en-US" sz="1800"/>
              <a:t>如无特殊说明，数据包使用小端字序(低字节在前)。</a:t>
            </a:r>
            <a:endParaRPr lang="zh-CN" altLang="en-US" sz="18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3440" y="1353820"/>
          <a:ext cx="10600690" cy="3525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0270"/>
                <a:gridCol w="814705"/>
                <a:gridCol w="970280"/>
                <a:gridCol w="958850"/>
                <a:gridCol w="996315"/>
                <a:gridCol w="1015365"/>
                <a:gridCol w="1141095"/>
                <a:gridCol w="1252855"/>
                <a:gridCol w="300355"/>
                <a:gridCol w="1270635"/>
                <a:gridCol w="989965"/>
              </a:tblGrid>
              <a:tr h="32131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BLE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通讯数据包的格式定义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3695">
                <a:tc gridSpan="4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公共头部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数据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p>
                      <a:pPr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应用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payload (1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个或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多个命令或回复数据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校验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2915">
                <a:tc rowSpan="2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...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CRC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021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3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命令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类型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数据长度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(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左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35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 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Byte 7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NA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307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[0~10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[11~12 ]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[13~15]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gridSpan="3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98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[0~9]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[10~11 ]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[12~15]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498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x1234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337935" y="6465570"/>
            <a:ext cx="5316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单包、多包传输的定义，校验</a:t>
            </a:r>
            <a:r>
              <a:rPr lang="en-US" altLang="zh-CN"/>
              <a:t> CheckSum</a:t>
            </a:r>
            <a:r>
              <a:rPr lang="zh-CN" altLang="en-US"/>
              <a:t>或者</a:t>
            </a:r>
            <a:r>
              <a:rPr lang="en-US" altLang="zh-CN"/>
              <a:t>CRC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07135" y="5305425"/>
            <a:ext cx="1005395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会话</a:t>
            </a:r>
            <a:r>
              <a:rPr lang="en-US" altLang="zh-CN"/>
              <a:t>ID</a:t>
            </a:r>
            <a:r>
              <a:rPr lang="zh-CN" altLang="en-US"/>
              <a:t>字段：</a:t>
            </a:r>
            <a:r>
              <a:rPr lang="en-US" altLang="zh-CN"/>
              <a:t>4</a:t>
            </a:r>
            <a:r>
              <a:rPr lang="zh-CN" altLang="en-US"/>
              <a:t>个字节</a:t>
            </a:r>
            <a:r>
              <a:rPr lang="en-US" altLang="zh-CN"/>
              <a:t>  </a:t>
            </a:r>
            <a:r>
              <a:rPr lang="zh-CN" altLang="en-US"/>
              <a:t>用于保证数据交互的顺序性；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5820" y="4906645"/>
            <a:ext cx="1060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公共头部数据说明：</a:t>
            </a:r>
            <a:r>
              <a:rPr lang="en-US" altLang="zh-CN"/>
              <a:t> </a:t>
            </a:r>
            <a:r>
              <a:rPr lang="zh-CN" altLang="en-US"/>
              <a:t>上表带颜色是备用方案，用于适配低配置的智能手机。例如：</a:t>
            </a:r>
            <a:r>
              <a:rPr lang="en-US" altLang="zh-CN"/>
              <a:t>iOS 9 </a:t>
            </a:r>
            <a:r>
              <a:rPr lang="zh-CN" altLang="en-US"/>
              <a:t>及更早版本。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07135" y="5652135"/>
            <a:ext cx="10303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控制字段：</a:t>
            </a:r>
            <a:r>
              <a:rPr lang="en-US" altLang="zh-CN"/>
              <a:t>2</a:t>
            </a:r>
            <a:r>
              <a:rPr lang="zh-CN" altLang="en-US"/>
              <a:t>个字节：</a:t>
            </a:r>
            <a:r>
              <a:rPr lang="en-US" altLang="zh-CN"/>
              <a:t>  Bit[0~10]  </a:t>
            </a:r>
            <a:r>
              <a:rPr lang="zh-CN" altLang="en-US"/>
              <a:t>该会话的数据（单包或多包）的总长度；</a:t>
            </a:r>
            <a:r>
              <a:rPr lang="en-US" altLang="zh-CN"/>
              <a:t>Bit[11~12] </a:t>
            </a:r>
            <a:r>
              <a:rPr lang="zh-CN" altLang="en-US"/>
              <a:t>标志位单包和多包；</a:t>
            </a:r>
            <a:r>
              <a:rPr lang="en-US" altLang="zh-CN"/>
              <a:t> 00</a:t>
            </a:r>
            <a:r>
              <a:rPr lang="zh-CN" altLang="en-US"/>
              <a:t>表示</a:t>
            </a:r>
            <a:r>
              <a:rPr lang="en-US" altLang="zh-CN"/>
              <a:t> </a:t>
            </a:r>
            <a:r>
              <a:rPr lang="zh-CN" altLang="en-US"/>
              <a:t>单包，</a:t>
            </a:r>
            <a:r>
              <a:rPr lang="en-US" altLang="zh-CN"/>
              <a:t>11 </a:t>
            </a:r>
            <a:r>
              <a:rPr lang="zh-CN" altLang="en-US"/>
              <a:t>表示多包，</a:t>
            </a:r>
            <a:r>
              <a:rPr lang="en-US" altLang="zh-CN"/>
              <a:t> 10</a:t>
            </a:r>
            <a:r>
              <a:rPr lang="zh-CN" altLang="en-US"/>
              <a:t>表示多包最后一个包；</a:t>
            </a:r>
            <a:r>
              <a:rPr lang="en-US" altLang="zh-CN"/>
              <a:t>Bit[13~15]: </a:t>
            </a:r>
            <a:r>
              <a:rPr lang="zh-CN" altLang="en-US"/>
              <a:t>多包索引值。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 fontScale="90000"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关于底软的蓝牙通讯中数据长度的</a:t>
            </a:r>
            <a:r>
              <a:rPr lang="zh-CN" altLang="en-US" sz="2400" b="1" dirty="0" smtClean="0">
                <a:sym typeface="+mn-ea"/>
              </a:rPr>
              <a:t>限制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4390" y="1324610"/>
            <a:ext cx="1052512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iOS </a:t>
            </a:r>
            <a:r>
              <a:rPr lang="zh-CN" altLang="en-US"/>
              <a:t>和</a:t>
            </a:r>
            <a:r>
              <a:rPr lang="en-US" altLang="zh-CN"/>
              <a:t> Android </a:t>
            </a:r>
            <a:r>
              <a:rPr lang="zh-CN" altLang="en-US"/>
              <a:t>的</a:t>
            </a:r>
            <a:r>
              <a:rPr lang="en-US" altLang="zh-CN"/>
              <a:t> BLE </a:t>
            </a:r>
            <a:r>
              <a:rPr lang="zh-CN" altLang="en-US"/>
              <a:t>接收包最大长度与发送端一致，核心限制都在</a:t>
            </a:r>
            <a:r>
              <a:rPr lang="en-US" altLang="zh-CN"/>
              <a:t> ATT MTU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27735" y="1815465"/>
          <a:ext cx="10431146" cy="1430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0820"/>
                <a:gridCol w="1490980"/>
                <a:gridCol w="2160270"/>
                <a:gridCol w="2347595"/>
                <a:gridCol w="2951481"/>
              </a:tblGrid>
              <a:tr h="28702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平台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默认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MTU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默认接收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payload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最大协商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MTU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最大接收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payload</a:t>
                      </a:r>
                      <a:endParaRPr lang="en-US" altLang="zh-CN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iOS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10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以上）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185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182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185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iOS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作为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Central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时通常不主动协商更大值）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182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Android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20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517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512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鸿蒙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20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517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512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字节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27735" y="3430270"/>
            <a:ext cx="10546080" cy="3388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关键说明：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接收长度</a:t>
            </a:r>
            <a:r>
              <a:rPr lang="en-US" altLang="zh-CN"/>
              <a:t> = </a:t>
            </a:r>
            <a:r>
              <a:rPr lang="zh-CN" altLang="en-US"/>
              <a:t>发送长度</a:t>
            </a:r>
            <a:endParaRPr lang="zh-CN" altLang="en-US"/>
          </a:p>
          <a:p>
            <a:r>
              <a:rPr lang="en-US" altLang="zh-CN"/>
              <a:t>    BLE </a:t>
            </a:r>
            <a:r>
              <a:rPr lang="zh-CN" altLang="en-US"/>
              <a:t>的</a:t>
            </a:r>
            <a:r>
              <a:rPr lang="en-US" altLang="zh-CN"/>
              <a:t> MTU </a:t>
            </a:r>
            <a:r>
              <a:rPr lang="zh-CN" altLang="en-US"/>
              <a:t>是双向对称的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</a:t>
            </a:r>
            <a:r>
              <a:rPr lang="zh-CN" altLang="en-US"/>
              <a:t>你能接收的单包最大长度</a:t>
            </a:r>
            <a:r>
              <a:rPr lang="en-US" altLang="zh-CN"/>
              <a:t> = </a:t>
            </a:r>
            <a:r>
              <a:rPr lang="zh-CN" altLang="en-US"/>
              <a:t>对端设备单次发送的最大长度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</a:t>
            </a:r>
            <a:r>
              <a:rPr lang="zh-CN" altLang="en-US"/>
              <a:t>如果外设发了一个超过当前</a:t>
            </a:r>
            <a:r>
              <a:rPr lang="en-US" altLang="zh-CN"/>
              <a:t> MTU </a:t>
            </a:r>
            <a:r>
              <a:rPr lang="zh-CN" altLang="en-US"/>
              <a:t>的</a:t>
            </a:r>
            <a:r>
              <a:rPr lang="en-US" altLang="zh-CN"/>
              <a:t> ATT </a:t>
            </a:r>
            <a:r>
              <a:rPr lang="zh-CN" altLang="en-US"/>
              <a:t>包，链路层会丢弃或拒绝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、长包接收（</a:t>
            </a:r>
            <a:r>
              <a:rPr lang="en-US" altLang="zh-CN"/>
              <a:t>Long Read / Prepare Write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     GATT </a:t>
            </a:r>
            <a:r>
              <a:rPr lang="zh-CN" altLang="en-US"/>
              <a:t>协议支持</a:t>
            </a:r>
            <a:r>
              <a:rPr lang="en-US" altLang="zh-CN"/>
              <a:t> Read Blob Request </a:t>
            </a:r>
            <a:r>
              <a:rPr lang="zh-CN" altLang="en-US"/>
              <a:t>和</a:t>
            </a:r>
            <a:r>
              <a:rPr lang="en-US" altLang="zh-CN"/>
              <a:t> Prepared Write </a:t>
            </a:r>
            <a:r>
              <a:rPr lang="zh-CN" altLang="en-US"/>
              <a:t>来传输超过</a:t>
            </a:r>
            <a:r>
              <a:rPr lang="en-US" altLang="zh-CN"/>
              <a:t> MTU </a:t>
            </a:r>
            <a:r>
              <a:rPr lang="zh-CN" altLang="en-US"/>
              <a:t>的数据</a:t>
            </a:r>
            <a:endParaRPr lang="zh-CN" altLang="en-US"/>
          </a:p>
          <a:p>
            <a:r>
              <a:rPr lang="en-US" altLang="zh-CN"/>
              <a:t>     </a:t>
            </a:r>
            <a:r>
              <a:rPr lang="zh-CN" altLang="en-US"/>
              <a:t>但这些是多包交互，不是</a:t>
            </a:r>
            <a:r>
              <a:rPr lang="en-US" altLang="zh-CN"/>
              <a:t>"</a:t>
            </a:r>
            <a:r>
              <a:rPr lang="zh-CN" altLang="en-US"/>
              <a:t>单包接收</a:t>
            </a:r>
            <a:r>
              <a:rPr lang="en-US" altLang="zh-CN"/>
              <a:t>"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单包</a:t>
            </a:r>
            <a:r>
              <a:rPr lang="en-US" altLang="zh-CN"/>
              <a:t> ATT </a:t>
            </a:r>
            <a:r>
              <a:rPr lang="zh-CN" altLang="en-US"/>
              <a:t>数据始终受</a:t>
            </a:r>
            <a:r>
              <a:rPr lang="en-US" altLang="zh-CN"/>
              <a:t> MTU </a:t>
            </a:r>
            <a:r>
              <a:rPr lang="zh-CN" altLang="en-US"/>
              <a:t>限制</a:t>
            </a:r>
            <a:endParaRPr lang="zh-CN" altLang="en-US"/>
          </a:p>
          <a:p>
            <a:r>
              <a:rPr lang="zh-CN" altLang="en-US"/>
              <a:t>一句话总结：</a:t>
            </a:r>
            <a:r>
              <a:rPr lang="en-US" altLang="zh-CN"/>
              <a:t> </a:t>
            </a:r>
            <a:r>
              <a:rPr lang="zh-CN" altLang="en-US"/>
              <a:t>单包接收最大长度</a:t>
            </a:r>
            <a:r>
              <a:rPr lang="en-US" altLang="zh-CN"/>
              <a:t> = </a:t>
            </a:r>
            <a:r>
              <a:rPr lang="zh-CN" altLang="en-US"/>
              <a:t>当前连接</a:t>
            </a:r>
            <a:r>
              <a:rPr lang="en-US" altLang="zh-CN"/>
              <a:t> MTU - 3 </a:t>
            </a:r>
            <a:r>
              <a:rPr lang="zh-CN" altLang="en-US"/>
              <a:t>字节</a:t>
            </a:r>
            <a:r>
              <a:rPr lang="en-US" altLang="zh-CN"/>
              <a:t> ATT header</a:t>
            </a:r>
            <a:endParaRPr lang="en-US" altLang="zh-CN"/>
          </a:p>
          <a:p>
            <a:r>
              <a:rPr lang="en-US" altLang="zh-CN"/>
              <a:t>iOS </a:t>
            </a:r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以上）默认：</a:t>
            </a:r>
            <a:r>
              <a:rPr lang="en-US" altLang="zh-CN"/>
              <a:t>182 </a:t>
            </a:r>
            <a:r>
              <a:rPr lang="zh-CN" altLang="en-US"/>
              <a:t>字节；</a:t>
            </a:r>
            <a:r>
              <a:rPr lang="en-US" altLang="zh-CN"/>
              <a:t>Android </a:t>
            </a:r>
            <a:r>
              <a:rPr lang="zh-CN" altLang="en-US"/>
              <a:t>默认：</a:t>
            </a:r>
            <a:r>
              <a:rPr lang="en-US" altLang="zh-CN"/>
              <a:t>20 </a:t>
            </a:r>
            <a:r>
              <a:rPr lang="zh-CN" altLang="en-US"/>
              <a:t>字节，协商后最大</a:t>
            </a:r>
            <a:r>
              <a:rPr lang="en-US" altLang="zh-CN"/>
              <a:t> 512 </a:t>
            </a:r>
            <a:r>
              <a:rPr lang="zh-CN" altLang="en-US"/>
              <a:t>字节</a:t>
            </a:r>
            <a:r>
              <a:rPr lang="en-US" altLang="zh-CN"/>
              <a:t> </a:t>
            </a:r>
            <a:r>
              <a:rPr lang="zh-CN" altLang="en-US"/>
              <a:t>；</a:t>
            </a:r>
            <a:r>
              <a:rPr lang="en-US" altLang="zh-CN"/>
              <a:t> HarmonyOS </a:t>
            </a:r>
            <a:r>
              <a:rPr lang="zh-CN" altLang="en-US"/>
              <a:t>的</a:t>
            </a:r>
            <a:r>
              <a:rPr lang="en-US" altLang="zh-CN"/>
              <a:t> BLE </a:t>
            </a:r>
            <a:r>
              <a:rPr lang="zh-CN" altLang="en-US"/>
              <a:t>单包限制与</a:t>
            </a:r>
            <a:r>
              <a:rPr lang="en-US" altLang="zh-CN"/>
              <a:t> Android </a:t>
            </a:r>
            <a:r>
              <a:rPr lang="zh-CN" altLang="en-US"/>
              <a:t>相同：默认</a:t>
            </a:r>
            <a:r>
              <a:rPr lang="en-US" altLang="zh-CN"/>
              <a:t> 20 </a:t>
            </a:r>
            <a:r>
              <a:rPr lang="zh-CN" altLang="en-US"/>
              <a:t>字节，协商</a:t>
            </a:r>
            <a:r>
              <a:rPr lang="en-US" altLang="zh-CN"/>
              <a:t> MTU 517 </a:t>
            </a:r>
            <a:r>
              <a:rPr lang="zh-CN" altLang="en-US"/>
              <a:t>后最大</a:t>
            </a:r>
            <a:r>
              <a:rPr lang="en-US" altLang="zh-CN"/>
              <a:t> 512 </a:t>
            </a:r>
            <a:r>
              <a:rPr lang="zh-CN" altLang="en-US"/>
              <a:t>字节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关于底软的蓝牙通讯定义</a:t>
            </a:r>
            <a:r>
              <a:rPr lang="en-US" altLang="zh-CN" sz="2400" b="1" dirty="0" smtClean="0">
                <a:sym typeface="+mn-ea"/>
              </a:rPr>
              <a:t>  </a:t>
            </a:r>
            <a:r>
              <a:rPr lang="zh-CN" altLang="en-US" sz="2400" b="1" dirty="0" smtClean="0">
                <a:sym typeface="+mn-ea"/>
              </a:rPr>
              <a:t>单包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多</a:t>
            </a:r>
            <a:r>
              <a:rPr lang="zh-CN" altLang="en-US" sz="2400" b="1" dirty="0" smtClean="0">
                <a:sym typeface="+mn-ea"/>
              </a:rPr>
              <a:t>包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4870" y="1259840"/>
            <a:ext cx="1067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基于多平台的</a:t>
            </a:r>
            <a:r>
              <a:rPr lang="en-US" altLang="zh-CN"/>
              <a:t>MTU</a:t>
            </a:r>
            <a:r>
              <a:rPr lang="zh-CN" altLang="en-US"/>
              <a:t>限制</a:t>
            </a:r>
            <a:r>
              <a:rPr lang="en-US" altLang="zh-CN"/>
              <a:t> </a:t>
            </a:r>
            <a:r>
              <a:rPr lang="zh-CN" altLang="en-US"/>
              <a:t>（详见</a:t>
            </a:r>
            <a:r>
              <a:rPr lang="zh-CN" altLang="en-US"/>
              <a:t>上页）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4870" y="1628140"/>
            <a:ext cx="670496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93025" y="1280160"/>
          <a:ext cx="3634105" cy="2202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390"/>
                <a:gridCol w="658495"/>
                <a:gridCol w="928370"/>
                <a:gridCol w="958850"/>
              </a:tblGrid>
              <a:tr h="280670">
                <a:tc gridSpan="4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公共头部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数据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513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75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4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[0~10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[11~12 ]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[13~15]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0005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[0~9]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[10~11 ]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[12~15]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216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x1234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64870" y="1587500"/>
            <a:ext cx="6777355" cy="1188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MTU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180</a:t>
            </a:r>
            <a:r>
              <a:rPr lang="zh-CN" altLang="en-US">
                <a:sym typeface="+mn-ea"/>
              </a:rPr>
              <a:t>字节，按照控制字段：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个字节：</a:t>
            </a:r>
            <a:r>
              <a:rPr lang="en-US" altLang="zh-CN">
                <a:sym typeface="+mn-ea"/>
              </a:rPr>
              <a:t>  Bit[0~10]  </a:t>
            </a:r>
            <a:r>
              <a:rPr lang="zh-CN" altLang="en-US">
                <a:sym typeface="+mn-ea"/>
              </a:rPr>
              <a:t>该会话的数据（单包或多包）的总长度；</a:t>
            </a:r>
            <a:r>
              <a:rPr lang="en-US" altLang="zh-CN">
                <a:sym typeface="+mn-ea"/>
              </a:rPr>
              <a:t>Bit[11~12] </a:t>
            </a:r>
            <a:r>
              <a:rPr lang="zh-CN" altLang="en-US">
                <a:sym typeface="+mn-ea"/>
              </a:rPr>
              <a:t>标志位单包和多包；</a:t>
            </a:r>
            <a:r>
              <a:rPr lang="en-US" altLang="zh-CN">
                <a:sym typeface="+mn-ea"/>
              </a:rPr>
              <a:t> 00</a:t>
            </a:r>
            <a:r>
              <a:rPr lang="zh-CN" altLang="en-US">
                <a:sym typeface="+mn-ea"/>
              </a:rPr>
              <a:t>表示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单包，</a:t>
            </a:r>
            <a:r>
              <a:rPr lang="en-US" altLang="zh-CN">
                <a:sym typeface="+mn-ea"/>
              </a:rPr>
              <a:t>11 </a:t>
            </a:r>
            <a:r>
              <a:rPr lang="zh-CN" altLang="en-US">
                <a:sym typeface="+mn-ea"/>
              </a:rPr>
              <a:t>表示多包，</a:t>
            </a:r>
            <a:r>
              <a:rPr lang="en-US" altLang="zh-CN">
                <a:sym typeface="+mn-ea"/>
              </a:rPr>
              <a:t> 10</a:t>
            </a:r>
            <a:r>
              <a:rPr lang="zh-CN" altLang="en-US">
                <a:sym typeface="+mn-ea"/>
              </a:rPr>
              <a:t>表示多包最后一个包；</a:t>
            </a:r>
            <a:r>
              <a:rPr lang="en-US" altLang="zh-CN">
                <a:sym typeface="+mn-ea"/>
              </a:rPr>
              <a:t>Bit[13~15]: </a:t>
            </a:r>
            <a:r>
              <a:rPr lang="zh-CN" altLang="en-US">
                <a:sym typeface="+mn-ea"/>
              </a:rPr>
              <a:t>多包索引值。</a:t>
            </a: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96620" y="2745740"/>
            <a:ext cx="6745605" cy="1463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计算结果：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Bit[0~10]</a:t>
            </a:r>
            <a:r>
              <a:rPr lang="en-US" altLang="zh-CN"/>
              <a:t> </a:t>
            </a:r>
            <a:r>
              <a:rPr lang="zh-CN" altLang="en-US"/>
              <a:t>数据总长度</a:t>
            </a:r>
            <a:r>
              <a:rPr lang="zh-CN" altLang="en-US"/>
              <a:t>最大是</a:t>
            </a:r>
            <a:r>
              <a:rPr lang="en-US" altLang="zh-CN"/>
              <a:t>2</a:t>
            </a:r>
            <a:r>
              <a:rPr lang="en-US" altLang="zh-CN" baseline="30000"/>
              <a:t>11</a:t>
            </a:r>
            <a:r>
              <a:rPr lang="en-US" altLang="zh-CN"/>
              <a:t>=2048</a:t>
            </a:r>
            <a:r>
              <a:rPr lang="zh-CN" altLang="en-US"/>
              <a:t>字节；</a:t>
            </a:r>
            <a:endParaRPr lang="zh-CN" altLang="en-US"/>
          </a:p>
          <a:p>
            <a:r>
              <a:rPr lang="en-US" altLang="zh-CN"/>
              <a:t>                   Bit[13~15] </a:t>
            </a:r>
            <a:r>
              <a:rPr lang="zh-CN" altLang="en-US"/>
              <a:t>索引值最大：</a:t>
            </a:r>
            <a:r>
              <a:rPr lang="en-US" altLang="zh-CN"/>
              <a:t>9 </a:t>
            </a:r>
            <a:r>
              <a:rPr lang="zh-CN" altLang="en-US"/>
              <a:t>个数据包索引；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/>
              <a:t>单包最大长度：</a:t>
            </a:r>
            <a:r>
              <a:rPr lang="en-US" altLang="zh-CN"/>
              <a:t>180-6</a:t>
            </a:r>
            <a:r>
              <a:rPr lang="zh-CN" altLang="en-US"/>
              <a:t>（公共头部数据）</a:t>
            </a:r>
            <a:r>
              <a:rPr lang="en-US" altLang="zh-CN"/>
              <a:t>=174</a:t>
            </a:r>
            <a:r>
              <a:rPr lang="zh-CN" altLang="en-US"/>
              <a:t>；按照索引多包：</a:t>
            </a:r>
            <a:r>
              <a:rPr lang="en-US" altLang="zh-CN"/>
              <a:t>174*8=1372</a:t>
            </a:r>
            <a:r>
              <a:rPr lang="zh-CN" altLang="en-US"/>
              <a:t>字节</a:t>
            </a:r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最大字节是：</a:t>
            </a:r>
            <a:r>
              <a:rPr lang="en-US" altLang="zh-CN">
                <a:sym typeface="+mn-ea"/>
              </a:rPr>
              <a:t>1372</a:t>
            </a:r>
            <a:r>
              <a:rPr lang="zh-CN" altLang="en-US"/>
              <a:t>字节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91870" y="4208780"/>
            <a:ext cx="10335260" cy="2232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MTU</a:t>
            </a:r>
            <a:r>
              <a:rPr lang="zh-CN" altLang="en-US">
                <a:sym typeface="+mn-ea"/>
              </a:rPr>
              <a:t>为</a:t>
            </a:r>
            <a:r>
              <a:rPr lang="en-US" altLang="zh-CN">
                <a:sym typeface="+mn-ea"/>
              </a:rPr>
              <a:t>180</a:t>
            </a:r>
            <a:r>
              <a:rPr lang="zh-CN" altLang="en-US">
                <a:sym typeface="+mn-ea"/>
              </a:rPr>
              <a:t>字节，按照控制字段：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个字节：</a:t>
            </a:r>
            <a:r>
              <a:rPr lang="en-US" altLang="zh-CN">
                <a:sym typeface="+mn-ea"/>
              </a:rPr>
              <a:t>  Bit[0~9]  </a:t>
            </a:r>
            <a:r>
              <a:rPr lang="zh-CN" altLang="en-US">
                <a:sym typeface="+mn-ea"/>
              </a:rPr>
              <a:t>该会话的数据（单包或多包）的总长度；</a:t>
            </a:r>
            <a:r>
              <a:rPr lang="en-US" altLang="zh-CN">
                <a:sym typeface="+mn-ea"/>
              </a:rPr>
              <a:t>Bit[10~11] </a:t>
            </a:r>
            <a:r>
              <a:rPr lang="zh-CN" altLang="en-US">
                <a:sym typeface="+mn-ea"/>
              </a:rPr>
              <a:t>标志位单包和多包；</a:t>
            </a:r>
            <a:r>
              <a:rPr lang="en-US" altLang="zh-CN">
                <a:sym typeface="+mn-ea"/>
              </a:rPr>
              <a:t> 00</a:t>
            </a:r>
            <a:r>
              <a:rPr lang="zh-CN" altLang="en-US">
                <a:sym typeface="+mn-ea"/>
              </a:rPr>
              <a:t>表示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单包，</a:t>
            </a:r>
            <a:r>
              <a:rPr lang="en-US" altLang="zh-CN">
                <a:sym typeface="+mn-ea"/>
              </a:rPr>
              <a:t>11 </a:t>
            </a:r>
            <a:r>
              <a:rPr lang="zh-CN" altLang="en-US">
                <a:sym typeface="+mn-ea"/>
              </a:rPr>
              <a:t>表示多包，</a:t>
            </a:r>
            <a:r>
              <a:rPr lang="en-US" altLang="zh-CN">
                <a:sym typeface="+mn-ea"/>
              </a:rPr>
              <a:t> 10</a:t>
            </a:r>
            <a:r>
              <a:rPr lang="zh-CN" altLang="en-US">
                <a:sym typeface="+mn-ea"/>
              </a:rPr>
              <a:t>表示多包最后一个包；</a:t>
            </a:r>
            <a:r>
              <a:rPr lang="en-US" altLang="zh-CN">
                <a:sym typeface="+mn-ea"/>
              </a:rPr>
              <a:t>Bit[12~15]: </a:t>
            </a:r>
            <a:r>
              <a:rPr lang="zh-CN" altLang="en-US">
                <a:sym typeface="+mn-ea"/>
              </a:rPr>
              <a:t>多包索引值。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计算结果：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Bit[0~10]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数据总长度最大是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10</a:t>
            </a:r>
            <a:r>
              <a:rPr lang="en-US" altLang="zh-CN">
                <a:sym typeface="+mn-ea"/>
              </a:rPr>
              <a:t>=1024</a:t>
            </a:r>
            <a:r>
              <a:rPr lang="zh-CN" altLang="en-US">
                <a:sym typeface="+mn-ea"/>
              </a:rPr>
              <a:t>字节；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   Bit[12~15] </a:t>
            </a:r>
            <a:r>
              <a:rPr lang="zh-CN" altLang="en-US">
                <a:sym typeface="+mn-ea"/>
              </a:rPr>
              <a:t>索引值最大：</a:t>
            </a:r>
            <a:r>
              <a:rPr lang="en-US" altLang="zh-CN">
                <a:sym typeface="+mn-ea"/>
              </a:rPr>
              <a:t>15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个数据包索引；</a:t>
            </a:r>
            <a:r>
              <a:rPr lang="en-US" altLang="zh-CN">
                <a:sym typeface="+mn-ea"/>
              </a:rPr>
              <a:t> 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    </a:t>
            </a:r>
            <a:r>
              <a:rPr lang="zh-CN" altLang="en-US">
                <a:sym typeface="+mn-ea"/>
              </a:rPr>
              <a:t>单包最大长度：</a:t>
            </a:r>
            <a:r>
              <a:rPr lang="en-US" altLang="zh-CN">
                <a:sym typeface="+mn-ea"/>
              </a:rPr>
              <a:t>180-6</a:t>
            </a:r>
            <a:r>
              <a:rPr lang="zh-CN" altLang="en-US">
                <a:sym typeface="+mn-ea"/>
              </a:rPr>
              <a:t>（公共头部数据）</a:t>
            </a:r>
            <a:r>
              <a:rPr lang="en-US" altLang="zh-CN">
                <a:sym typeface="+mn-ea"/>
              </a:rPr>
              <a:t>=174</a:t>
            </a:r>
            <a:r>
              <a:rPr lang="zh-CN" altLang="en-US">
                <a:sym typeface="+mn-ea"/>
              </a:rPr>
              <a:t>；按照索引多包：</a:t>
            </a:r>
            <a:r>
              <a:rPr lang="en-US" altLang="zh-CN">
                <a:sym typeface="+mn-ea"/>
              </a:rPr>
              <a:t>174*15=2610 </a:t>
            </a:r>
            <a:r>
              <a:rPr lang="zh-CN" altLang="en-US">
                <a:sym typeface="+mn-ea"/>
              </a:rPr>
              <a:t>字节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最大字节数：</a:t>
            </a:r>
            <a:r>
              <a:rPr lang="en-US" altLang="zh-CN">
                <a:sym typeface="+mn-ea"/>
              </a:rPr>
              <a:t>1024</a:t>
            </a:r>
            <a:r>
              <a:rPr lang="zh-CN" altLang="en-US">
                <a:sym typeface="+mn-ea"/>
              </a:rPr>
              <a:t>字节； </a:t>
            </a:r>
            <a:endParaRPr lang="en-US" altLang="zh-CN"/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关于底软的蓝牙通讯定义</a:t>
            </a:r>
            <a:r>
              <a:rPr lang="en-US" altLang="zh-CN" sz="2400" b="1" dirty="0" smtClean="0">
                <a:sym typeface="+mn-ea"/>
              </a:rPr>
              <a:t>  </a:t>
            </a:r>
            <a:r>
              <a:rPr lang="zh-CN" altLang="en-US" sz="2400" b="1" dirty="0" smtClean="0">
                <a:sym typeface="+mn-ea"/>
              </a:rPr>
              <a:t>单包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多</a:t>
            </a:r>
            <a:r>
              <a:rPr lang="zh-CN" altLang="en-US" sz="2400" b="1" dirty="0" smtClean="0">
                <a:sym typeface="+mn-ea"/>
              </a:rPr>
              <a:t>包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4870" y="1259840"/>
            <a:ext cx="1067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基于多平台的</a:t>
            </a:r>
            <a:r>
              <a:rPr lang="en-US" altLang="zh-CN"/>
              <a:t>MTU</a:t>
            </a:r>
            <a:r>
              <a:rPr lang="zh-CN" altLang="en-US"/>
              <a:t>限制</a:t>
            </a:r>
            <a:r>
              <a:rPr lang="en-US" altLang="zh-CN"/>
              <a:t> </a:t>
            </a:r>
            <a:r>
              <a:rPr lang="zh-CN" altLang="en-US"/>
              <a:t>（详见</a:t>
            </a:r>
            <a:r>
              <a:rPr lang="zh-CN" altLang="en-US"/>
              <a:t>上页）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4870" y="1628140"/>
            <a:ext cx="670496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93025" y="1280160"/>
          <a:ext cx="3634105" cy="22028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8390"/>
                <a:gridCol w="658495"/>
                <a:gridCol w="928370"/>
                <a:gridCol w="958850"/>
              </a:tblGrid>
              <a:tr h="280670">
                <a:tc gridSpan="4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公共头部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数据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513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75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4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[0~10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[11~12 ]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[13~15]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0005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[0~9]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[10~11 ]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[12~15]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216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x1234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864870" y="1628140"/>
            <a:ext cx="6715760" cy="2278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以</a:t>
            </a:r>
            <a:r>
              <a:rPr lang="en-US" altLang="zh-CN"/>
              <a:t>MTU</a:t>
            </a:r>
            <a:r>
              <a:rPr lang="zh-CN" altLang="en-US"/>
              <a:t>为</a:t>
            </a:r>
            <a:r>
              <a:rPr lang="en-US" altLang="zh-CN"/>
              <a:t>20</a:t>
            </a:r>
            <a:r>
              <a:rPr lang="zh-CN" altLang="en-US"/>
              <a:t>字节，</a:t>
            </a:r>
            <a:r>
              <a:rPr lang="zh-CN" altLang="en-US">
                <a:sym typeface="+mn-ea"/>
              </a:rPr>
              <a:t>按照控制字段：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个字节：</a:t>
            </a:r>
            <a:r>
              <a:rPr lang="en-US" altLang="zh-CN">
                <a:sym typeface="+mn-ea"/>
              </a:rPr>
              <a:t>  Bit[0~10]  </a:t>
            </a:r>
            <a:r>
              <a:rPr lang="zh-CN" altLang="en-US">
                <a:sym typeface="+mn-ea"/>
              </a:rPr>
              <a:t>该会话的数据（单包或多包）的总长度；</a:t>
            </a:r>
            <a:r>
              <a:rPr lang="en-US" altLang="zh-CN">
                <a:sym typeface="+mn-ea"/>
              </a:rPr>
              <a:t>Bit[11~12] </a:t>
            </a:r>
            <a:r>
              <a:rPr lang="zh-CN" altLang="en-US">
                <a:sym typeface="+mn-ea"/>
              </a:rPr>
              <a:t>标志位单包和多包；</a:t>
            </a:r>
            <a:r>
              <a:rPr lang="en-US" altLang="zh-CN">
                <a:sym typeface="+mn-ea"/>
              </a:rPr>
              <a:t> 00</a:t>
            </a:r>
            <a:r>
              <a:rPr lang="zh-CN" altLang="en-US">
                <a:sym typeface="+mn-ea"/>
              </a:rPr>
              <a:t>表示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单包，</a:t>
            </a:r>
            <a:r>
              <a:rPr lang="en-US" altLang="zh-CN">
                <a:sym typeface="+mn-ea"/>
              </a:rPr>
              <a:t>11 </a:t>
            </a:r>
            <a:r>
              <a:rPr lang="zh-CN" altLang="en-US">
                <a:sym typeface="+mn-ea"/>
              </a:rPr>
              <a:t>表示多包，</a:t>
            </a:r>
            <a:r>
              <a:rPr lang="en-US" altLang="zh-CN">
                <a:sym typeface="+mn-ea"/>
              </a:rPr>
              <a:t> 10</a:t>
            </a:r>
            <a:r>
              <a:rPr lang="zh-CN" altLang="en-US">
                <a:sym typeface="+mn-ea"/>
              </a:rPr>
              <a:t>表示多包最后一个包；</a:t>
            </a:r>
            <a:r>
              <a:rPr lang="en-US" altLang="zh-CN">
                <a:sym typeface="+mn-ea"/>
              </a:rPr>
              <a:t>Bit[13~15]: </a:t>
            </a:r>
            <a:r>
              <a:rPr lang="zh-CN" altLang="en-US">
                <a:sym typeface="+mn-ea"/>
              </a:rPr>
              <a:t>多包索引值。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计算结果：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Bit[0~10]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数据总长度最大是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11</a:t>
            </a:r>
            <a:r>
              <a:rPr lang="en-US" altLang="zh-CN">
                <a:sym typeface="+mn-ea"/>
              </a:rPr>
              <a:t>=2048</a:t>
            </a:r>
            <a:r>
              <a:rPr lang="zh-CN" altLang="en-US">
                <a:sym typeface="+mn-ea"/>
              </a:rPr>
              <a:t>字节；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   Bit[13~15] </a:t>
            </a:r>
            <a:r>
              <a:rPr lang="zh-CN" altLang="en-US">
                <a:sym typeface="+mn-ea"/>
              </a:rPr>
              <a:t>索引值最大：</a:t>
            </a:r>
            <a:r>
              <a:rPr lang="en-US" altLang="zh-CN">
                <a:sym typeface="+mn-ea"/>
              </a:rPr>
              <a:t>9 </a:t>
            </a:r>
            <a:r>
              <a:rPr lang="zh-CN" altLang="en-US">
                <a:sym typeface="+mn-ea"/>
              </a:rPr>
              <a:t>个数据包索引；</a:t>
            </a:r>
            <a:r>
              <a:rPr lang="en-US" altLang="zh-CN">
                <a:sym typeface="+mn-ea"/>
              </a:rPr>
              <a:t> 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    </a:t>
            </a:r>
            <a:r>
              <a:rPr lang="zh-CN" altLang="en-US">
                <a:sym typeface="+mn-ea"/>
              </a:rPr>
              <a:t>单包最大长度：</a:t>
            </a:r>
            <a:r>
              <a:rPr lang="en-US" altLang="zh-CN">
                <a:sym typeface="+mn-ea"/>
              </a:rPr>
              <a:t>20-6</a:t>
            </a:r>
            <a:r>
              <a:rPr lang="zh-CN" altLang="en-US">
                <a:sym typeface="+mn-ea"/>
              </a:rPr>
              <a:t>（公共头部数据）</a:t>
            </a:r>
            <a:r>
              <a:rPr lang="en-US" altLang="zh-CN">
                <a:sym typeface="+mn-ea"/>
              </a:rPr>
              <a:t>=14</a:t>
            </a:r>
            <a:r>
              <a:rPr lang="zh-CN" altLang="en-US">
                <a:sym typeface="+mn-ea"/>
              </a:rPr>
              <a:t>；按照索引多包：</a:t>
            </a:r>
            <a:r>
              <a:rPr lang="en-US" altLang="zh-CN">
                <a:sym typeface="+mn-ea"/>
              </a:rPr>
              <a:t>14*8=112</a:t>
            </a:r>
            <a:endParaRPr lang="zh-CN" altLang="en-US">
              <a:sym typeface="+mn-ea"/>
            </a:endParaRPr>
          </a:p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63930" y="3993515"/>
            <a:ext cx="10473055" cy="1766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以</a:t>
            </a:r>
            <a:r>
              <a:rPr lang="en-US" altLang="zh-CN"/>
              <a:t>MTU</a:t>
            </a:r>
            <a:r>
              <a:rPr lang="zh-CN" altLang="en-US"/>
              <a:t>为</a:t>
            </a:r>
            <a:r>
              <a:rPr lang="en-US" altLang="zh-CN"/>
              <a:t>20</a:t>
            </a:r>
            <a:r>
              <a:rPr lang="zh-CN" altLang="en-US"/>
              <a:t>字节，</a:t>
            </a:r>
            <a:r>
              <a:rPr lang="zh-CN" altLang="en-US">
                <a:sym typeface="+mn-ea"/>
              </a:rPr>
              <a:t>按照控制字段：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个字节：</a:t>
            </a:r>
            <a:r>
              <a:rPr lang="en-US" altLang="zh-CN">
                <a:sym typeface="+mn-ea"/>
              </a:rPr>
              <a:t>  Bit[0~9]  </a:t>
            </a:r>
            <a:r>
              <a:rPr lang="zh-CN" altLang="en-US">
                <a:sym typeface="+mn-ea"/>
              </a:rPr>
              <a:t>该会话的数据（单包或多包）的总长度；</a:t>
            </a:r>
            <a:r>
              <a:rPr lang="en-US" altLang="zh-CN">
                <a:sym typeface="+mn-ea"/>
              </a:rPr>
              <a:t>Bit[10~11] </a:t>
            </a:r>
            <a:r>
              <a:rPr lang="zh-CN" altLang="en-US">
                <a:sym typeface="+mn-ea"/>
              </a:rPr>
              <a:t>标志位单包和多包；</a:t>
            </a:r>
            <a:r>
              <a:rPr lang="en-US" altLang="zh-CN">
                <a:sym typeface="+mn-ea"/>
              </a:rPr>
              <a:t> 00</a:t>
            </a:r>
            <a:r>
              <a:rPr lang="zh-CN" altLang="en-US">
                <a:sym typeface="+mn-ea"/>
              </a:rPr>
              <a:t>表示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单包，</a:t>
            </a:r>
            <a:r>
              <a:rPr lang="en-US" altLang="zh-CN">
                <a:sym typeface="+mn-ea"/>
              </a:rPr>
              <a:t>11 </a:t>
            </a:r>
            <a:r>
              <a:rPr lang="zh-CN" altLang="en-US">
                <a:sym typeface="+mn-ea"/>
              </a:rPr>
              <a:t>表示多包，</a:t>
            </a:r>
            <a:r>
              <a:rPr lang="en-US" altLang="zh-CN">
                <a:sym typeface="+mn-ea"/>
              </a:rPr>
              <a:t> 10</a:t>
            </a:r>
            <a:r>
              <a:rPr lang="zh-CN" altLang="en-US">
                <a:sym typeface="+mn-ea"/>
              </a:rPr>
              <a:t>表示多包最后一个包；</a:t>
            </a:r>
            <a:r>
              <a:rPr lang="en-US" altLang="zh-CN">
                <a:sym typeface="+mn-ea"/>
              </a:rPr>
              <a:t>Bit[12~15]: </a:t>
            </a:r>
            <a:r>
              <a:rPr lang="zh-CN" altLang="en-US">
                <a:sym typeface="+mn-ea"/>
              </a:rPr>
              <a:t>多包索引值。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计算结果：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ym typeface="+mn-ea"/>
              </a:rPr>
              <a:t>Bit[0~10]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数据总长度最大是</a:t>
            </a:r>
            <a:r>
              <a:rPr lang="en-US" altLang="zh-CN">
                <a:sym typeface="+mn-ea"/>
              </a:rPr>
              <a:t>2</a:t>
            </a:r>
            <a:r>
              <a:rPr lang="en-US" altLang="zh-CN" baseline="30000">
                <a:sym typeface="+mn-ea"/>
              </a:rPr>
              <a:t>10</a:t>
            </a:r>
            <a:r>
              <a:rPr lang="en-US" altLang="zh-CN">
                <a:sym typeface="+mn-ea"/>
              </a:rPr>
              <a:t>=1024</a:t>
            </a:r>
            <a:r>
              <a:rPr lang="zh-CN" altLang="en-US">
                <a:sym typeface="+mn-ea"/>
              </a:rPr>
              <a:t>字节；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   Bit[12~15] </a:t>
            </a:r>
            <a:r>
              <a:rPr lang="zh-CN" altLang="en-US">
                <a:sym typeface="+mn-ea"/>
              </a:rPr>
              <a:t>索引值最大：</a:t>
            </a:r>
            <a:r>
              <a:rPr lang="en-US" altLang="zh-CN">
                <a:sym typeface="+mn-ea"/>
              </a:rPr>
              <a:t>15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个数据包索引；</a:t>
            </a:r>
            <a:r>
              <a:rPr lang="en-US" altLang="zh-CN">
                <a:sym typeface="+mn-ea"/>
              </a:rPr>
              <a:t> 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    </a:t>
            </a:r>
            <a:r>
              <a:rPr lang="zh-CN" altLang="en-US">
                <a:sym typeface="+mn-ea"/>
              </a:rPr>
              <a:t>单包最大长度：</a:t>
            </a:r>
            <a:r>
              <a:rPr lang="en-US" altLang="zh-CN">
                <a:sym typeface="+mn-ea"/>
              </a:rPr>
              <a:t>20-6</a:t>
            </a:r>
            <a:r>
              <a:rPr lang="zh-CN" altLang="en-US">
                <a:sym typeface="+mn-ea"/>
              </a:rPr>
              <a:t>（公共头部数据）</a:t>
            </a:r>
            <a:r>
              <a:rPr lang="en-US" altLang="zh-CN">
                <a:sym typeface="+mn-ea"/>
              </a:rPr>
              <a:t>=14</a:t>
            </a:r>
            <a:r>
              <a:rPr lang="zh-CN" altLang="en-US">
                <a:sym typeface="+mn-ea"/>
              </a:rPr>
              <a:t>；按照索引多包：</a:t>
            </a:r>
            <a:r>
              <a:rPr lang="en-US" altLang="zh-CN">
                <a:sym typeface="+mn-ea"/>
              </a:rPr>
              <a:t>14*15=</a:t>
            </a:r>
            <a:r>
              <a:rPr lang="en-US">
                <a:sym typeface="+mn-ea"/>
              </a:rPr>
              <a:t>210</a:t>
            </a:r>
            <a:r>
              <a:rPr lang="zh-CN" altLang="en-US">
                <a:sym typeface="+mn-ea"/>
              </a:rPr>
              <a:t>字节。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3930" y="5944235"/>
            <a:ext cx="10473690" cy="430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基于消费电子迭代考虑，蓝牙版本单包传输数据量越来越大。结论是</a:t>
            </a:r>
            <a:r>
              <a:rPr lang="zh-CN" altLang="en-US"/>
              <a:t>采用上表绿框定义。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关于底软的蓝牙通讯定义</a:t>
            </a:r>
            <a:r>
              <a:rPr lang="en-US" altLang="zh-CN" sz="2400" b="1" dirty="0" smtClean="0">
                <a:sym typeface="+mn-ea"/>
              </a:rPr>
              <a:t>  </a:t>
            </a:r>
            <a:r>
              <a:rPr lang="zh-CN" altLang="en-US" sz="2400" b="1" dirty="0" smtClean="0">
                <a:sym typeface="+mn-ea"/>
              </a:rPr>
              <a:t>单包</a:t>
            </a:r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多</a:t>
            </a:r>
            <a:r>
              <a:rPr lang="zh-CN" altLang="en-US" sz="2400" b="1" dirty="0" smtClean="0">
                <a:sym typeface="+mn-ea"/>
              </a:rPr>
              <a:t>包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64870" y="1259840"/>
            <a:ext cx="10483850" cy="626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</a:t>
            </a:r>
            <a:r>
              <a:rPr lang="zh-CN" altLang="en-US"/>
              <a:t>、如果数据包（包括</a:t>
            </a:r>
            <a:r>
              <a:rPr lang="zh-CN" altLang="en-US">
                <a:sym typeface="Arial" panose="020B0604020202020204" pitchFamily="34" charset="0"/>
              </a:rPr>
              <a:t>公共头部数据</a:t>
            </a:r>
            <a:r>
              <a:rPr lang="zh-CN" altLang="en-US"/>
              <a:t>）的长度小于</a:t>
            </a:r>
            <a:r>
              <a:rPr lang="en-US" altLang="zh-CN"/>
              <a:t>MTU-3</a:t>
            </a:r>
            <a:r>
              <a:rPr lang="zh-CN" altLang="en-US"/>
              <a:t>；就采用单包发送。</a:t>
            </a:r>
            <a:r>
              <a:rPr lang="en-US" altLang="zh-CN"/>
              <a:t>   </a:t>
            </a:r>
            <a:r>
              <a:rPr lang="zh-CN" altLang="en-US"/>
              <a:t>假定是：</a:t>
            </a:r>
            <a:r>
              <a:rPr lang="en-US" altLang="zh-CN"/>
              <a:t> MTU=123</a:t>
            </a:r>
            <a:r>
              <a:rPr lang="zh-CN" altLang="en-US"/>
              <a:t>，发包</a:t>
            </a:r>
            <a:r>
              <a:rPr lang="en-US" altLang="zh-CN"/>
              <a:t> 32</a:t>
            </a:r>
            <a:r>
              <a:rPr lang="zh-CN" altLang="en-US"/>
              <a:t>个</a:t>
            </a:r>
            <a:r>
              <a:rPr lang="zh-CN" altLang="en-US"/>
              <a:t>字节。</a:t>
            </a:r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64870" y="1852930"/>
          <a:ext cx="10600690" cy="1285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055"/>
                <a:gridCol w="1323340"/>
                <a:gridCol w="635635"/>
                <a:gridCol w="958215"/>
                <a:gridCol w="1009650"/>
                <a:gridCol w="5033010"/>
                <a:gridCol w="819785"/>
              </a:tblGrid>
              <a:tr h="33528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发包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方式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应用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payload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CRC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9245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[0~10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[11~12 ]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[13~15]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单次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0x12345678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0x1A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(0x1A -  2)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XX XX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64235" y="3178175"/>
            <a:ext cx="106013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 </a:t>
            </a:r>
            <a:r>
              <a:rPr lang="zh-CN" altLang="en-US"/>
              <a:t>如果数据包（包括公用</a:t>
            </a:r>
            <a:r>
              <a:rPr lang="zh-CN" altLang="en-US">
                <a:sym typeface="Arial" panose="020B0604020202020204" pitchFamily="34" charset="0"/>
              </a:rPr>
              <a:t>头部数据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的长度大于</a:t>
            </a:r>
            <a:r>
              <a:rPr lang="en-US" altLang="zh-CN">
                <a:sym typeface="+mn-ea"/>
              </a:rPr>
              <a:t>MTU-3</a:t>
            </a:r>
            <a:r>
              <a:rPr lang="zh-CN" altLang="en-US">
                <a:sym typeface="+mn-ea"/>
              </a:rPr>
              <a:t>；就采用多包发送。假定是：</a:t>
            </a:r>
            <a:r>
              <a:rPr lang="en-US" altLang="zh-CN">
                <a:sym typeface="+mn-ea"/>
              </a:rPr>
              <a:t> MTU=123</a:t>
            </a:r>
            <a:r>
              <a:rPr lang="zh-CN" altLang="en-US">
                <a:sym typeface="+mn-ea"/>
              </a:rPr>
              <a:t>，发包</a:t>
            </a:r>
            <a:r>
              <a:rPr lang="en-US" altLang="zh-CN">
                <a:sym typeface="+mn-ea"/>
              </a:rPr>
              <a:t>286</a:t>
            </a:r>
            <a:r>
              <a:rPr lang="zh-CN" altLang="en-US">
                <a:sym typeface="+mn-ea"/>
              </a:rPr>
              <a:t>字节</a:t>
            </a:r>
            <a:r>
              <a:rPr lang="en-US" altLang="zh-CN">
                <a:sym typeface="+mn-ea"/>
              </a:rPr>
              <a:t> (</a:t>
            </a:r>
            <a:r>
              <a:rPr lang="zh-CN" altLang="en-US">
                <a:sym typeface="Arial" panose="020B0604020202020204" pitchFamily="34" charset="0"/>
              </a:rPr>
              <a:t>公共头部数据</a:t>
            </a:r>
            <a:r>
              <a:rPr lang="en-US" altLang="zh-CN">
                <a:sym typeface="Arial" panose="020B0604020202020204" pitchFamily="34" charset="0"/>
              </a:rPr>
              <a:t> 6</a:t>
            </a:r>
            <a:r>
              <a:rPr lang="zh-CN" altLang="en-US">
                <a:sym typeface="Arial" panose="020B0604020202020204" pitchFamily="34" charset="0"/>
              </a:rPr>
              <a:t>个字节，</a:t>
            </a:r>
            <a:r>
              <a:rPr lang="en-US" altLang="zh-CN">
                <a:sym typeface="Arial" panose="020B0604020202020204" pitchFamily="34" charset="0"/>
              </a:rPr>
              <a:t> CRC 2</a:t>
            </a:r>
            <a:r>
              <a:rPr lang="zh-CN" altLang="en-US">
                <a:sym typeface="Arial" panose="020B0604020202020204" pitchFamily="34" charset="0"/>
              </a:rPr>
              <a:t>个字节</a:t>
            </a:r>
            <a:r>
              <a:rPr lang="en-US" altLang="zh-CN">
                <a:sym typeface="+mn-ea"/>
              </a:rPr>
              <a:t>)</a:t>
            </a:r>
            <a:r>
              <a:rPr lang="zh-CN" altLang="en-US">
                <a:sym typeface="+mn-ea"/>
              </a:rPr>
              <a:t>需要多发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次：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接收思路是</a:t>
            </a:r>
            <a:r>
              <a:rPr lang="zh-CN" altLang="en-US">
                <a:sym typeface="+mn-ea"/>
              </a:rPr>
              <a:t>反之。</a:t>
            </a:r>
            <a:endParaRPr lang="zh-CN" altLang="en-US">
              <a:sym typeface="+mn-ea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64870" y="3862705"/>
          <a:ext cx="10600690" cy="19799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2770"/>
                <a:gridCol w="1215390"/>
                <a:gridCol w="601980"/>
                <a:gridCol w="1011555"/>
                <a:gridCol w="1006475"/>
                <a:gridCol w="5236210"/>
                <a:gridCol w="956310"/>
              </a:tblGrid>
              <a:tr h="455930">
                <a:tc rowSpan="3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发包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方式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应用 payload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数据包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CRC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[0~10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[11~12 ]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[13~15]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6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次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0x12345678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280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120-6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）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 D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ata  Byte0~113]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无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972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次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0x12345678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280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(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120-6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）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[ Data  Byte114~227]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593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3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次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0x12345678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280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(50)  [Data  Byte228~278]   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XX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XX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864235" y="61944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注：</a:t>
            </a:r>
            <a:r>
              <a:rPr lang="en-US" altLang="zh-CN"/>
              <a:t>280</a:t>
            </a:r>
            <a:r>
              <a:rPr lang="zh-CN" altLang="en-US"/>
              <a:t>表示数据包和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CRC</a:t>
            </a:r>
            <a:r>
              <a:rPr lang="zh-CN" altLang="en-US"/>
              <a:t>数据。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关于底软的蓝牙通讯协议命令</a:t>
            </a:r>
            <a:r>
              <a:rPr lang="zh-CN" altLang="en-US" sz="2400" b="1" dirty="0" smtClean="0">
                <a:sym typeface="+mn-ea"/>
              </a:rPr>
              <a:t>类型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53440" y="1259840"/>
          <a:ext cx="10485755" cy="1833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760"/>
                <a:gridCol w="1059815"/>
                <a:gridCol w="1986915"/>
                <a:gridCol w="1283335"/>
                <a:gridCol w="1128395"/>
                <a:gridCol w="1239520"/>
                <a:gridCol w="297180"/>
                <a:gridCol w="1256665"/>
                <a:gridCol w="979170"/>
              </a:tblGrid>
              <a:tr h="274320">
                <a:tc gridSpan="9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BLE</a:t>
                      </a:r>
                      <a:r>
                        <a:rPr lang="zh-CN" alt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通讯数据包的格式定义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0035">
                <a:tc gridSpan="2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公共头部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数据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p>
                      <a:pPr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应用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payload (1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个或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多个命令或回复数据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校验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3840">
                <a:tc rowSpan="2"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会话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等线" panose="02010600030101010101" charset="-122"/>
                        </a:rPr>
                        <a:t>控制字段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...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第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个数据包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CRC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9080"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命令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类型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数据长度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数据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(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多个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左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893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0-3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Byte 4-5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 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Byte 7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NA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Byte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76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x12345678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781685" y="3285490"/>
          <a:ext cx="10557510" cy="31273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8885"/>
                <a:gridCol w="1221740"/>
                <a:gridCol w="6826885"/>
              </a:tblGrid>
              <a:tr h="31559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指令类型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表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750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指令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值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讨论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内容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289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保留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x00~0x05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92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获取设备信息（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版本号）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包含底软版本号、硬件版本号、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SN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等等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2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获取状态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信息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0x07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包含初始人为注入的胰岛素量、已注入的胰岛素量、最近一笔注入剂量和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时间；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UTC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时间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Unix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时间戳（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32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位秒）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+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时区偏移（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8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位）；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要不要考虑时区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讨论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UTC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时间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0x09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735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暂停泵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恢复或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暂停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4958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停用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泵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x0B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泵的使用寿命到了或被移除后，指令进行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停用。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关于底软的蓝牙通讯协议命令</a:t>
            </a:r>
            <a:r>
              <a:rPr lang="zh-CN" altLang="en-US" sz="2400" b="1" dirty="0" smtClean="0">
                <a:sym typeface="+mn-ea"/>
              </a:rPr>
              <a:t>类型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49630" y="1259840"/>
          <a:ext cx="10557510" cy="4451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8885"/>
                <a:gridCol w="1195070"/>
                <a:gridCol w="6853555"/>
              </a:tblGrid>
              <a:tr h="31686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指令类型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表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指令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值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简单描述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（用途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方便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讨论。）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系统设置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重置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状态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通知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x0D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泵主动推送状态信息，无需用户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确认。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鉴权功能（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待定）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x10~0x20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暂时保留，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待定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654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蜂鸣器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参数设置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x21 </a:t>
                      </a:r>
                      <a:endParaRPr lang="en-US" altLang="zh-CN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不同报警情况下，蜂鸣器的报警信号设置和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获取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蜂鸣器参数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振动马达参数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不同报警情况下，振动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马达的报警信号设置和获取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099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振动马达参数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警报模式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0x25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蜂鸣器与振动马达一起使用，或者只响蜂鸣器不振动，还有其他产品的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需求。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警报模式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0x26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静音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模式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0x27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免打扰模式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限制值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限制值指的是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单次注射剂量上限、单次大剂量输注上限、最大基础率限制、最大日总量的限制。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 ---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对应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（单一状态下可能传输最大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的容量）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06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限制值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x29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关于底软的蓝牙通讯协议命令</a:t>
            </a:r>
            <a:r>
              <a:rPr lang="zh-CN" altLang="en-US" sz="2400" b="1" dirty="0" smtClean="0">
                <a:sym typeface="+mn-ea"/>
              </a:rPr>
              <a:t>类型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49630" y="1278890"/>
          <a:ext cx="10557510" cy="5450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97405"/>
                <a:gridCol w="1381125"/>
                <a:gridCol w="7078980"/>
              </a:tblGrid>
              <a:tr h="21780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指令类型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表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591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指令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值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简单描述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（用途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方便讨论。）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5019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给药方案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编程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0x30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编程指令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768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基础率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x31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每天重复，按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30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分或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个小时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为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单位；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依赖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给药方案编程指令，具体指令再详细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参数。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临时基础率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0x32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临时增加一段时间基础率，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是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24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小时才有效，还是后天也有效。</a:t>
                      </a:r>
                      <a:endParaRPr lang="zh-CN" altLang="en-US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829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大剂量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x33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大剂量输注有分三种模式：普通、方波、双波。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立即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执行。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4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获取历史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事件记录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0x40~0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x4F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4447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泵连接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CGM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指令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x80~0x8F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保留给闭环算法功能，手机操控泵，泵的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BLE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连接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CGM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8384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工程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模式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xA0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如果只使用一个服务的话，这个指令就做为授权工厂模式的质量，只有该指令设置成功后，泵才接收后面工程方面的指令。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适用于串口协议，避免重复定义协议，但串口协议中不用受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BLE MTU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限制，直接采用单包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传输。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设备信息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编写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xA1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对应主板测试和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FTS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测试中的设备烧录和设备信息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更改。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216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设备信息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读取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xA2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电池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A3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对电池单一测试，空载和最大负载（待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讨论最大负载的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情况）的电池电压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采集。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电池信息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0xA4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电池初始电压是否符合规定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范围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记忆丝组件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0xA5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对记忆丝组件进行单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一测试。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记忆丝组件功能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状态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0xA6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获取记忆丝测试的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结果。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关于底软的蓝牙通讯协议命令</a:t>
            </a:r>
            <a:r>
              <a:rPr lang="zh-CN" altLang="en-US" sz="2400" b="1" dirty="0" smtClean="0">
                <a:sym typeface="+mn-ea"/>
              </a:rPr>
              <a:t>类型</a:t>
            </a:r>
            <a:endParaRPr lang="zh-CN" altLang="en-US" sz="2400" b="1" dirty="0" smtClean="0">
              <a:sym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49630" y="1259840"/>
          <a:ext cx="10557510" cy="35687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3300"/>
                <a:gridCol w="1205230"/>
                <a:gridCol w="7078980"/>
              </a:tblGrid>
              <a:tr h="31686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指令类型</a:t>
                      </a:r>
                      <a:r>
                        <a:rPr lang="zh-CN" altLang="en-US" sz="1800" b="1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表</a:t>
                      </a:r>
                      <a:endParaRPr lang="zh-CN" altLang="en-US" sz="1800" b="1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指令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类型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值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简单描述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（用途</a:t>
                      </a:r>
                      <a:r>
                        <a:rPr lang="en-US" altLang="zh-CN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方便讨论。）</a:t>
                      </a:r>
                      <a:endParaRPr lang="zh-CN" altLang="en-US" sz="1600" b="1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蓝牙接收数据包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xA7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发送一段特殊测试数据，与上位机进行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交互。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蓝牙测试的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信息获取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xA8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获取泵的蓝牙相关信息，上传给上位机，由上位机进行信息进行合并，提供蓝牙的分析报告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例如：信号强度、丢包率、间隔时间等等信息。细节待讨论。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蜂鸣器和振动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马达的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测试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0xA9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8770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自检程序的启动或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暂停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xAA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启动或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暂停自检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程序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自检程序的状态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通知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0xAB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自检程序的测试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信息查询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 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自检程序的状态，自检项目的是否都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ass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老化程序的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设置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0xAD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老化程序的状态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通知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0xA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E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7815">
                <a:tc>
                  <a:txBody>
                    <a:bodyPr/>
                    <a:p>
                      <a:pPr marL="0" marR="0" lvl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老化程序的测试信息</a:t>
                      </a:r>
                      <a:r>
                        <a:rPr lang="zh-CN" altLang="en-US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查询</a:t>
                      </a: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 0x</a:t>
                      </a: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AF</a:t>
                      </a:r>
                      <a:endParaRPr lang="en-US" altLang="zh-CN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spcBef>
                          <a:spcPts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6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关于底软的蓝牙通讯定义开发</a:t>
            </a:r>
            <a:r>
              <a:rPr lang="zh-CN" altLang="en-US" sz="2400" b="1" dirty="0" smtClean="0">
                <a:sym typeface="+mn-ea"/>
              </a:rPr>
              <a:t>策略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6615" y="1453515"/>
            <a:ext cx="5047615" cy="19754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第一代</a:t>
            </a:r>
            <a:r>
              <a:rPr lang="en-US" altLang="zh-CN"/>
              <a:t>: </a:t>
            </a:r>
            <a:r>
              <a:rPr lang="zh-CN" altLang="en-US"/>
              <a:t>明文传输</a:t>
            </a:r>
            <a:r>
              <a:rPr lang="en-US" altLang="zh-CN"/>
              <a:t> (Medtronic)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zh-CN" altLang="en-US"/>
              <a:t>第二代</a:t>
            </a:r>
            <a:r>
              <a:rPr lang="en-US" altLang="zh-CN"/>
              <a:t>: </a:t>
            </a:r>
            <a:r>
              <a:rPr lang="zh-CN" altLang="en-US"/>
              <a:t>简单校验</a:t>
            </a:r>
            <a:r>
              <a:rPr lang="en-US" altLang="zh-CN"/>
              <a:t> CRC (DanaRS </a:t>
            </a:r>
            <a:r>
              <a:rPr lang="zh-CN" altLang="en-US"/>
              <a:t>早期</a:t>
            </a:r>
            <a:r>
              <a:rPr lang="en-US" altLang="zh-CN"/>
              <a:t>)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zh-CN" altLang="en-US"/>
              <a:t>第三代</a:t>
            </a:r>
            <a:r>
              <a:rPr lang="en-US" altLang="zh-CN"/>
              <a:t>: </a:t>
            </a:r>
            <a:r>
              <a:rPr lang="zh-CN" altLang="en-US"/>
              <a:t>密码</a:t>
            </a:r>
            <a:r>
              <a:rPr lang="en-US" altLang="zh-CN"/>
              <a:t>+CRC (Equil)</a:t>
            </a:r>
            <a:endParaRPr lang="en-US" altLang="zh-CN"/>
          </a:p>
          <a:p>
            <a:r>
              <a:rPr lang="en-US" altLang="zh-CN"/>
              <a:t>     </a:t>
            </a:r>
            <a:r>
              <a:rPr lang="en-US" altLang="en-US"/>
              <a:t>↓</a:t>
            </a:r>
            <a:endParaRPr lang="en-US" altLang="en-US"/>
          </a:p>
          <a:p>
            <a:r>
              <a:rPr lang="zh-CN" altLang="en-US"/>
              <a:t>第四代</a:t>
            </a:r>
            <a:r>
              <a:rPr lang="en-US" altLang="zh-CN"/>
              <a:t>: </a:t>
            </a:r>
            <a:r>
              <a:rPr lang="zh-CN" altLang="en-US"/>
              <a:t>完整加密</a:t>
            </a:r>
            <a:r>
              <a:rPr lang="en-US" altLang="zh-CN"/>
              <a:t>+</a:t>
            </a:r>
            <a:r>
              <a:rPr lang="zh-CN" altLang="en-US"/>
              <a:t>认证</a:t>
            </a:r>
            <a:r>
              <a:rPr lang="en-US" altLang="zh-CN"/>
              <a:t> (DanaRS 5.0, Omnipod)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06970" y="1522730"/>
            <a:ext cx="3750945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第一阶段：明文</a:t>
            </a:r>
            <a:r>
              <a:rPr lang="en-US" altLang="zh-CN"/>
              <a:t>+CRC</a:t>
            </a:r>
            <a:r>
              <a:rPr lang="zh-CN" altLang="en-US"/>
              <a:t>校验</a:t>
            </a:r>
            <a:r>
              <a:rPr lang="en-US" altLang="zh-CN"/>
              <a:t> </a:t>
            </a:r>
            <a:r>
              <a:rPr lang="zh-CN" altLang="en-US"/>
              <a:t>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第二阶段：密文</a:t>
            </a:r>
            <a:r>
              <a:rPr lang="en-US" altLang="zh-CN"/>
              <a:t>+CRC</a:t>
            </a:r>
            <a:r>
              <a:rPr lang="zh-CN" altLang="en-US"/>
              <a:t>校</a:t>
            </a:r>
            <a:r>
              <a:rPr lang="zh-CN" altLang="en-US"/>
              <a:t>验；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第三阶段：</a:t>
            </a:r>
            <a:r>
              <a:rPr lang="en-US" altLang="zh-CN"/>
              <a:t> </a:t>
            </a:r>
            <a:r>
              <a:rPr lang="zh-CN" altLang="en-US"/>
              <a:t>增加认证</a:t>
            </a:r>
            <a:r>
              <a:rPr lang="zh-CN" altLang="en-US"/>
              <a:t>交互。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</a:t>
            </a:r>
            <a:endParaRPr lang="en-US" altLang="zh-CN" sz="24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85" y="1259840"/>
            <a:ext cx="9272905" cy="3647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35" y="4834255"/>
            <a:ext cx="619696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关于底软的蓝牙通讯</a:t>
            </a:r>
            <a:endParaRPr lang="en-US" altLang="zh-CN" sz="2400" b="1" dirty="0" smtClean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10" y="1412875"/>
            <a:ext cx="9558655" cy="46996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>
            <a:normAutofit/>
          </a:bodyPr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关于底软的数据</a:t>
            </a:r>
            <a:r>
              <a:rPr lang="zh-CN" altLang="en-US" sz="2400" b="1" dirty="0" smtClean="0">
                <a:sym typeface="+mn-ea"/>
              </a:rPr>
              <a:t>存储</a:t>
            </a:r>
            <a:endParaRPr lang="zh-CN" altLang="en-US" sz="2400" b="1" dirty="0" smtClean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1700" y="1318260"/>
            <a:ext cx="3157855" cy="314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Flash</a:t>
            </a:r>
            <a:r>
              <a:rPr lang="zh-CN" altLang="en-US"/>
              <a:t>的存储空间</a:t>
            </a:r>
            <a:r>
              <a:rPr lang="zh-CN" altLang="en-US"/>
              <a:t>分布</a:t>
            </a: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48385" y="1691640"/>
            <a:ext cx="3068320" cy="494538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00785" y="1783080"/>
            <a:ext cx="2613025" cy="40894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MCU  BOOT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50K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00785" y="2261235"/>
            <a:ext cx="2613025" cy="87312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 1 (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00785" y="3234055"/>
            <a:ext cx="2613025" cy="9347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 2 (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00785" y="4368165"/>
            <a:ext cx="2613025" cy="93472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 2 (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</a:t>
            </a:r>
            <a:r>
              <a:rPr 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sz="14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关于底软数据</a:t>
            </a:r>
            <a:r>
              <a:rPr lang="zh-CN" altLang="en-US" sz="2400" b="1" dirty="0" smtClean="0">
                <a:sym typeface="+mn-ea"/>
              </a:rPr>
              <a:t>存储</a:t>
            </a:r>
            <a:endParaRPr lang="zh-CN" altLang="en-US" sz="24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2615" y="557530"/>
            <a:ext cx="11051540" cy="702310"/>
          </a:xfrm>
        </p:spPr>
        <p:txBody>
          <a:bodyPr/>
          <a:lstStyle/>
          <a:p>
            <a:r>
              <a:rPr lang="en-US" altLang="zh-CN" sz="2400" b="1" dirty="0" smtClean="0">
                <a:sym typeface="+mn-ea"/>
              </a:rPr>
              <a:t> </a:t>
            </a:r>
            <a:r>
              <a:rPr lang="zh-CN" altLang="en-US" sz="2400" b="1" dirty="0" smtClean="0">
                <a:sym typeface="+mn-ea"/>
              </a:rPr>
              <a:t>二、胰岛素泵注册指导原则</a:t>
            </a:r>
            <a:r>
              <a:rPr lang="en-US" altLang="zh-CN" sz="2400" b="1" dirty="0" smtClean="0">
                <a:sym typeface="+mn-ea"/>
              </a:rPr>
              <a:t>   --- </a:t>
            </a:r>
            <a:r>
              <a:rPr lang="zh-CN" altLang="en-US" sz="2400" b="1" dirty="0" smtClean="0">
                <a:sym typeface="+mn-ea"/>
              </a:rPr>
              <a:t>综述资料</a:t>
            </a:r>
            <a:r>
              <a:rPr lang="en-US" altLang="zh-CN" sz="2400" b="1" dirty="0" smtClean="0">
                <a:sym typeface="+mn-ea"/>
              </a:rPr>
              <a:t>   </a:t>
            </a:r>
            <a:r>
              <a:rPr lang="zh-CN" altLang="en-US" sz="2400" b="1" dirty="0" smtClean="0">
                <a:sym typeface="+mn-ea"/>
              </a:rPr>
              <a:t>关于底软数据</a:t>
            </a:r>
            <a:r>
              <a:rPr lang="zh-CN" altLang="en-US" sz="2400" b="1" dirty="0" smtClean="0">
                <a:sym typeface="+mn-ea"/>
              </a:rPr>
              <a:t>存储</a:t>
            </a:r>
            <a:endParaRPr lang="zh-CN" altLang="en-US" sz="2400" b="1" dirty="0" smtClean="0"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4767980"/>
            <a:ext cx="9144000" cy="105189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科技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•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见所未见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bb8dd4d2-ef8e-472d-a6ad-01653ea6ea79}"/>
  <p:tag name="TABLE_ENDDRAG_ORIGIN_RECT" val="828*434"/>
  <p:tag name="TABLE_ENDDRAG_RECT" val="66*99*828*434"/>
  <p:tag name="KSO_WM_BEAUTIFY_FLAG" val=""/>
</p:tagLst>
</file>

<file path=ppt/tags/tag2.xml><?xml version="1.0" encoding="utf-8"?>
<p:tagLst xmlns:p="http://schemas.openxmlformats.org/presentationml/2006/main">
  <p:tag name="KSO_WM_UNIT_TABLE_BEAUTIFY" val="smartTable{b69b4981-d2cd-4256-892b-0e93305a5d39}"/>
  <p:tag name="TABLE_ENDDRAG_ORIGIN_RECT" val="828*434"/>
  <p:tag name="TABLE_ENDDRAG_RECT" val="66*99*828*434"/>
  <p:tag name="KSO_WM_BEAUTIFY_FLAG" val=""/>
</p:tagLst>
</file>

<file path=ppt/tags/tag3.xml><?xml version="1.0" encoding="utf-8"?>
<p:tagLst xmlns:p="http://schemas.openxmlformats.org/presentationml/2006/main">
  <p:tag name="KSO_WM_UNIT_TABLE_BEAUTIFY" val="smartTable{d7c63c34-8f5c-43fe-935e-74153876b0cc}"/>
  <p:tag name="TABLE_ENDDRAG_ORIGIN_RECT" val="828*434"/>
  <p:tag name="TABLE_ENDDRAG_RECT" val="66*99*828*434"/>
  <p:tag name="KSO_WM_BEAUTIFY_FLAG" val=""/>
</p:tagLst>
</file>

<file path=ppt/tags/tag4.xml><?xml version="1.0" encoding="utf-8"?>
<p:tagLst xmlns:p="http://schemas.openxmlformats.org/presentationml/2006/main">
  <p:tag name="KSO_WM_UNIT_TABLE_BEAUTIFY" val="smartTable{55fd51a6-56c4-495c-ada0-3e43f24f3136}"/>
  <p:tag name="TABLE_ENDDRAG_ORIGIN_RECT" val="828*434"/>
  <p:tag name="TABLE_ENDDRAG_RECT" val="66*99*828*434"/>
  <p:tag name="KSO_WM_BEAUTIFY_FLAG" val=""/>
</p:tagLst>
</file>

<file path=ppt/tags/tag5.xml><?xml version="1.0" encoding="utf-8"?>
<p:tagLst xmlns:p="http://schemas.openxmlformats.org/presentationml/2006/main">
  <p:tag name="KSO_WM_UNIT_TABLE_BEAUTIFY" val="smartTable{1c0c0ae0-9bfb-477f-8122-8af0b0af64be}"/>
  <p:tag name="TABLE_ENDDRAG_ORIGIN_RECT" val="828*434"/>
  <p:tag name="TABLE_ENDDRAG_RECT" val="66*99*828*434"/>
  <p:tag name="KSO_WM_BEAUTIFY_FLAG" val=""/>
</p:tagLst>
</file>

<file path=ppt/tags/tag6.xml><?xml version="1.0" encoding="utf-8"?>
<p:tagLst xmlns:p="http://schemas.openxmlformats.org/presentationml/2006/main">
  <p:tag name="KSO_WM_UNIT_TABLE_BEAUTIFY" val="smartTable{dc861bcf-7d80-4ade-93ba-410147c0cb26}"/>
  <p:tag name="TABLE_ENDDRAG_ORIGIN_RECT" val="479*392"/>
  <p:tag name="TABLE_ENDDRAG_RECT" val="412*106*479*392"/>
  <p:tag name="KSO_WM_BEAUTIFY_FLAG" val=""/>
</p:tagLst>
</file>

<file path=ppt/tags/tag7.xml><?xml version="1.0" encoding="utf-8"?>
<p:tagLst xmlns:p="http://schemas.openxmlformats.org/presentationml/2006/main">
  <p:tag name="KSO_WM_UNIT_TABLE_BEAUTIFY" val="smartTable{3f23f622-22af-4de1-bc1c-d240b68275c3}"/>
  <p:tag name="TABLE_ENDDRAG_ORIGIN_RECT" val="479*392"/>
  <p:tag name="TABLE_ENDDRAG_RECT" val="412*106*479*392"/>
  <p:tag name="KSO_WM_BEAUTIFY_FLAG" val=""/>
</p:tagLst>
</file>

<file path=ppt/tags/tag8.xml><?xml version="1.0" encoding="utf-8"?>
<p:tagLst xmlns:p="http://schemas.openxmlformats.org/presentationml/2006/main">
  <p:tag name="KSO_WM_UNIT_TABLE_BEAUTIFY" val="smartTable{e42844a3-1bdd-4b67-a378-e5a3734985ac}"/>
  <p:tag name="TABLE_ENDDRAG_ORIGIN_RECT" val="540*430"/>
  <p:tag name="TABLE_ENDDRAG_RECT" val="62*103*540*430"/>
  <p:tag name="KSO_WM_BEAUTIFY_FLAG" val=""/>
</p:tagLst>
</file>

<file path=ppt/tags/tag9.xml><?xml version="1.0" encoding="utf-8"?>
<p:tagLst xmlns:p="http://schemas.openxmlformats.org/presentationml/2006/main">
  <p:tag name="KSO_WM_UNIT_TABLE_BEAUTIFY" val="smartTable{004b5c3c-f841-4ffa-81a9-0b4acfe7f147}"/>
  <p:tag name="TABLE_ENDDRAG_ORIGIN_RECT" val="834*296"/>
  <p:tag name="TABLE_ENDDRAG_RECT" val="67*106*834*296"/>
  <p:tag name="KSO_WM_BEAUTIFY_FLAG" val=""/>
</p:tagLst>
</file>

<file path=ppt/tags/tag10.xml><?xml version="1.0" encoding="utf-8"?>
<p:tagLst xmlns:p="http://schemas.openxmlformats.org/presentationml/2006/main">
  <p:tag name="KSO_WM_UNIT_TABLE_BEAUTIFY" val="smartTable{e74d3400-b1d2-4033-8565-a5b78add77c6}"/>
  <p:tag name="TABLE_ENDDRAG_ORIGIN_RECT" val="821*305"/>
  <p:tag name="TABLE_ENDDRAG_RECT" val="73*142*821*305"/>
  <p:tag name="KSO_WM_BEAUTIFY_FLAG" val=""/>
</p:tagLst>
</file>

<file path=ppt/tags/tag11.xml><?xml version="1.0" encoding="utf-8"?>
<p:tagLst xmlns:p="http://schemas.openxmlformats.org/presentationml/2006/main">
  <p:tag name="KSO_WM_UNIT_TABLE_BEAUTIFY" val="smartTable{bcba2638-4ced-438f-9d9f-0041a3991310}"/>
  <p:tag name="TABLE_ENDDRAG_ORIGIN_RECT" val="834*296"/>
  <p:tag name="TABLE_ENDDRAG_RECT" val="67*106*834*296"/>
  <p:tag name="KSO_WM_BEAUTIFY_FLAG" val=""/>
</p:tagLst>
</file>

<file path=ppt/tags/tag12.xml><?xml version="1.0" encoding="utf-8"?>
<p:tagLst xmlns:p="http://schemas.openxmlformats.org/presentationml/2006/main">
  <p:tag name="KSO_WM_UNIT_TABLE_BEAUTIFY" val="smartTable{f2c33b5c-be5e-4570-8472-072095ddf7d7}"/>
  <p:tag name="TABLE_ENDDRAG_ORIGIN_RECT" val="834*296"/>
  <p:tag name="TABLE_ENDDRAG_RECT" val="67*106*834*296"/>
  <p:tag name="KSO_WM_BEAUTIFY_FLAG" val=""/>
</p:tagLst>
</file>

<file path=ppt/tags/tag13.xml><?xml version="1.0" encoding="utf-8"?>
<p:tagLst xmlns:p="http://schemas.openxmlformats.org/presentationml/2006/main">
  <p:tag name="KSO_WM_UNIT_TABLE_BEAUTIFY" val="smartTable{0014784e-bcd1-482b-b5a3-c73844d94589}"/>
  <p:tag name="TABLE_ENDDRAG_ORIGIN_RECT" val="834*99"/>
  <p:tag name="TABLE_ENDDRAG_RECT" val="68*149*834*99"/>
  <p:tag name="KSO_WM_BEAUTIFY_FLAG" val=""/>
</p:tagLst>
</file>

<file path=ppt/tags/tag14.xml><?xml version="1.0" encoding="utf-8"?>
<p:tagLst xmlns:p="http://schemas.openxmlformats.org/presentationml/2006/main">
  <p:tag name="KSO_WM_UNIT_TABLE_BEAUTIFY" val="smartTable{61e944f3-d05f-45e7-b1eb-147353133978}"/>
  <p:tag name="TABLE_ENDDRAG_ORIGIN_RECT" val="834*153"/>
  <p:tag name="TABLE_ENDDRAG_RECT" val="68*309*834*153"/>
  <p:tag name="KSO_WM_BEAUTIFY_FLAG" val=""/>
</p:tagLst>
</file>

<file path=ppt/tags/tag15.xml><?xml version="1.0" encoding="utf-8"?>
<p:tagLst xmlns:p="http://schemas.openxmlformats.org/presentationml/2006/main">
  <p:tag name="KSO_WM_UNIT_TABLE_BEAUTIFY" val="smartTable{cea3b682-2a25-41d0-a770-5934b91aaf64}"/>
  <p:tag name="TABLE_ENDDRAG_ORIGIN_RECT" val="834*140"/>
  <p:tag name="TABLE_ENDDRAG_RECT" val="67*99*834*140"/>
  <p:tag name="KSO_WM_BEAUTIFY_FLAG" val=""/>
</p:tagLst>
</file>

<file path=ppt/tags/tag16.xml><?xml version="1.0" encoding="utf-8"?>
<p:tagLst xmlns:p="http://schemas.openxmlformats.org/presentationml/2006/main">
  <p:tag name="KSO_WM_UNIT_TABLE_BEAUTIFY" val="smartTable{a0b277e3-fa0e-4919-afb6-324fa735bd19}"/>
  <p:tag name="TABLE_ENDDRAG_ORIGIN_RECT" val="831*239"/>
  <p:tag name="TABLE_ENDDRAG_RECT" val="61*258*831*239"/>
  <p:tag name="KSO_WM_BEAUTIFY_FLAG" val=""/>
</p:tagLst>
</file>

<file path=ppt/tags/tag17.xml><?xml version="1.0" encoding="utf-8"?>
<p:tagLst xmlns:p="http://schemas.openxmlformats.org/presentationml/2006/main">
  <p:tag name="KSO_WM_UNIT_TABLE_BEAUTIFY" val="smartTable{a1de13b3-7dde-447b-8e44-0092d3406bc7}"/>
  <p:tag name="TABLE_ENDDRAG_ORIGIN_RECT" val="831*396"/>
  <p:tag name="TABLE_ENDDRAG_RECT" val="66*99*831*396"/>
  <p:tag name="KSO_WM_BEAUTIFY_FLAG" val=""/>
</p:tagLst>
</file>

<file path=ppt/tags/tag18.xml><?xml version="1.0" encoding="utf-8"?>
<p:tagLst xmlns:p="http://schemas.openxmlformats.org/presentationml/2006/main">
  <p:tag name="KSO_WM_UNIT_TABLE_BEAUTIFY" val="smartTable{ec1bc653-192e-4044-8e56-8df182e79728}"/>
  <p:tag name="TABLE_ENDDRAG_ORIGIN_RECT" val="831*396"/>
  <p:tag name="TABLE_ENDDRAG_RECT" val="66*99*831*396"/>
  <p:tag name="KSO_WM_BEAUTIFY_FLAG" val=""/>
</p:tagLst>
</file>

<file path=ppt/tags/tag19.xml><?xml version="1.0" encoding="utf-8"?>
<p:tagLst xmlns:p="http://schemas.openxmlformats.org/presentationml/2006/main">
  <p:tag name="KSO_WM_UNIT_TABLE_BEAUTIFY" val="smartTable{a60be703-182f-47db-aff1-62b4740216ed}"/>
  <p:tag name="TABLE_ENDDRAG_ORIGIN_RECT" val="831*396"/>
  <p:tag name="TABLE_ENDDRAG_RECT" val="66*99*831*396"/>
  <p:tag name="KSO_WM_BEAUTIFY_FLAG" val=""/>
</p:tagLst>
</file>

<file path=ppt/tags/tag20.xml><?xml version="1.0" encoding="utf-8"?>
<p:tagLst xmlns:p="http://schemas.openxmlformats.org/presentationml/2006/main">
  <p:tag name="KSO_WPP_MARK_KEY" val="023d616b-4a7f-478a-9888-28f5df1cf8df"/>
  <p:tag name="COMMONDATA" val="eyJoZGlkIjoiNDI5ODFiMGZjZDRiNjVkZDQ5MWFhOGQ5NzI4NTAyN2EifQ=="/>
</p:tagLst>
</file>

<file path=ppt/theme/theme1.xml><?xml version="1.0" encoding="utf-8"?>
<a:theme xmlns:a="http://schemas.openxmlformats.org/drawingml/2006/main" name="Office 主题​​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12145</Words>
  <Application>WPS 演示</Application>
  <PresentationFormat>宽屏</PresentationFormat>
  <Paragraphs>1698</Paragraphs>
  <Slides>34</Slides>
  <Notes>70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Calibri</vt:lpstr>
      <vt:lpstr>等线</vt:lpstr>
      <vt:lpstr>Arial Unicode MS</vt:lpstr>
      <vt:lpstr>Office 主题​​</vt:lpstr>
      <vt:lpstr>关于胰岛素泵的底软相关探讨</vt:lpstr>
      <vt:lpstr> 二、胰岛素泵注册指导原则 --- 综述资料  系统简介</vt:lpstr>
      <vt:lpstr> 二、胰岛素泵注册指导原则   --- 综述资料   产品描述    功能列表（结合用户界面）</vt:lpstr>
      <vt:lpstr> 二、胰岛素泵注册指导原则 --- 综述资料 产品描述 功能列表（结合用户界面）</vt:lpstr>
      <vt:lpstr> 二、胰岛素泵注册指导原则   --- 综述资料   产品描述    功能列表（结合用户界面）</vt:lpstr>
      <vt:lpstr> 二、胰岛素泵注册指导原则   --- 综述资料   产品描述    功能列表（结合用户界面）</vt:lpstr>
      <vt:lpstr> 二、胰岛素泵注册指导原则   --- 综述资料 产品描述 功能列表（结合用户界面）</vt:lpstr>
      <vt:lpstr> 二、胰岛素泵注册指导原则   --- 综述资料 产品描述 临床使用的流程</vt:lpstr>
      <vt:lpstr> 二、胰岛素泵注册指导原则   --- 综述资料 产品描述 临床功能和各项性能</vt:lpstr>
      <vt:lpstr> 二、胰岛素泵注册指导原则   --- 综述资料   关于底软初步讨论</vt:lpstr>
      <vt:lpstr> 二、胰岛素泵注册指导原则   --- 综述资料   关于底软的框架</vt:lpstr>
      <vt:lpstr> 二、胰岛素泵注册指导原则   --- 综述资料   关于底软的框架 （增加闭环算法）</vt:lpstr>
      <vt:lpstr> 二、胰岛素泵注册指导原则   --- 综述资料   胰岛素泵初步流程</vt:lpstr>
      <vt:lpstr> 二、胰岛素泵注册指导原则   --- 综述资料   关于主板功能测试的描述</vt:lpstr>
      <vt:lpstr> 二、胰岛素泵注册指导原则   --- 综述资料   关于 FTS(Field Test System)测试</vt:lpstr>
      <vt:lpstr> 二、胰岛素泵注册指导原则   --- 综述资料    关于公开的胰岛素泵通讯协议</vt:lpstr>
      <vt:lpstr> 二、胰岛素泵注册指导原则   --- 综述资料    关于胰岛素泵的蓝牙私有协议</vt:lpstr>
      <vt:lpstr> 二、胰岛素泵注册指导原则   --- 综述资料   关于底软的蓝牙通讯定义</vt:lpstr>
      <vt:lpstr> 二、胰岛素泵注册指导原则   --- 综述资料   关于底软的蓝牙通讯定义</vt:lpstr>
      <vt:lpstr> 二、胰岛素泵注册指导原则   --- 综述资料   关于底软的蓝牙通讯中数据长度的限制</vt:lpstr>
      <vt:lpstr> 二、胰岛素泵注册指导原则   --- 综述资料   关于底软的蓝牙通讯定义  单包 多包</vt:lpstr>
      <vt:lpstr> 二、胰岛素泵注册指导原则   --- 综述资料   关于底软的蓝牙通讯定义  单包 多包</vt:lpstr>
      <vt:lpstr> 二、胰岛素泵注册指导原则   --- 综述资料   关于底软的蓝牙通讯定义  单包 多包</vt:lpstr>
      <vt:lpstr> 二、胰岛素泵注册指导原则   --- 综述资料   关于底软的蓝牙通讯协议命令类型</vt:lpstr>
      <vt:lpstr> 二、胰岛素泵注册指导原则   --- 综述资料   关于底软的蓝牙通讯协议命令类型</vt:lpstr>
      <vt:lpstr> 二、胰岛素泵注册指导原则   --- 综述资料   关于底软的蓝牙通讯协议命令类型</vt:lpstr>
      <vt:lpstr> 二、胰岛素泵注册指导原则   --- 综述资料   关于底软的蓝牙通讯协议命令类型</vt:lpstr>
      <vt:lpstr> 二、胰岛素泵注册指导原则   --- 综述资料   关于底软的蓝牙通讯定义开发策略</vt:lpstr>
      <vt:lpstr> 二、胰岛素泵注册指导原则   --- 综述资料   关于底软的蓝牙通讯</vt:lpstr>
      <vt:lpstr> 二、胰岛素泵注册指导原则   --- 综述资料   关于底软的蓝牙通讯</vt:lpstr>
      <vt:lpstr> 二、胰岛素泵注册指导原则   --- 综述资料   关于底软的数据存储</vt:lpstr>
      <vt:lpstr> 二、胰岛素泵注册指导原则   --- 综述资料   关于底软数据存储</vt:lpstr>
      <vt:lpstr> 二、胰岛素泵注册指导原则   --- 综述资料   关于底软数据存储</vt:lpstr>
      <vt:lpstr>科技 • 见所未见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赵瑜</dc:creator>
  <cp:lastModifiedBy>tex</cp:lastModifiedBy>
  <cp:revision>5986</cp:revision>
  <cp:lastPrinted>2020-04-01T08:22:00Z</cp:lastPrinted>
  <dcterms:created xsi:type="dcterms:W3CDTF">2019-07-30T00:59:00Z</dcterms:created>
  <dcterms:modified xsi:type="dcterms:W3CDTF">2026-04-30T02:29:03Z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99E6B2D2D99B4CF9B9F86EEEF895C8F3_13</vt:lpwstr>
  </property>
</Properties>
</file>